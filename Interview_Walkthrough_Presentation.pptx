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26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"/>
            <a:ext cx="12188952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Temperature Monitoring &amp; Visualization System — Task Walkthrough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568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568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notesSlide" Target="../notesSlides/notesSlide9.xml"/><Relationship Id="rId25" Type="http://schemas.openxmlformats.org/officeDocument/2006/relationships/slideLayout" Target="../slideLayouts/slideLayout2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4" Type="http://schemas.openxmlformats.org/officeDocument/2006/relationships/notesSlide" Target="../notesSlides/notesSlide18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RajarajeswariMani/Temperature-Monitoring-and-Visualization-System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83080"/>
            <a:ext cx="1051560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Temperature Monitoring &amp;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Visualization 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3154680"/>
            <a:ext cx="3840480" cy="0"/>
          </a:xfrm>
          <a:prstGeom prst="line">
            <a:avLst/>
          </a:prstGeom>
          <a:noFill/>
          <a:ln w="25400">
            <a:solidFill>
              <a:srgbClr val="445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337560"/>
            <a:ext cx="10515600" cy="9175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GB" sz="18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Technical Task Presentation</a:t>
            </a:r>
            <a:r>
              <a:rPr lang="de-DE" altLang="en-US" sz="1800" dirty="0">
                <a:solidFill>
                  <a:srgbClr val="6B7280"/>
                </a:solidFill>
                <a:latin typeface="Calibri" panose="020F0502020204030204" charset="0"/>
                <a:ea typeface="Arial" panose="020B0604020202020204" pitchFamily="34" charset="-122"/>
                <a:cs typeface="Arial" panose="020B0604020202020204" pitchFamily="34" charset="-120"/>
              </a:rPr>
              <a:t> - </a:t>
            </a:r>
            <a:r>
              <a:rPr lang="en-US" sz="18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 Approached the Task, and the Results</a:t>
            </a:r>
            <a:endParaRPr lang="en-US" sz="1800" dirty="0">
              <a:solidFill>
                <a:srgbClr val="6B7280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algn="l">
              <a:buClrTx/>
              <a:buSzTx/>
              <a:buFontTx/>
              <a:buNone/>
            </a:pPr>
            <a:endParaRPr lang="en-US" altLang="en-GB" sz="1800" dirty="0">
              <a:solidFill>
                <a:srgbClr val="6B7280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08990" y="3959225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Interview Walkthrough  •  </a:t>
            </a:r>
            <a:r>
              <a:rPr lang="en-US" altLang="en-GB" sz="1250" i="1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Embedded Software Architecture</a:t>
            </a:r>
            <a:r>
              <a:rPr lang="en-US" sz="1250" i="1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 •</a:t>
            </a:r>
            <a:r>
              <a:rPr lang="de-DE" altLang="en-US" sz="1250" i="1" dirty="0">
                <a:solidFill>
                  <a:srgbClr val="6B7280"/>
                </a:solidFill>
                <a:latin typeface="Calibri" panose="020F050202020403020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250" i="1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 bare-metal + C++ OOP implementations  •  GitHub repository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22960" y="441198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GB" sz="1250" i="1" dirty="0">
                <a:solidFill>
                  <a:srgbClr val="6B7280"/>
                </a:solidFill>
                <a:latin typeface="Calibri" panose="020F0502020204030204" charset="0"/>
                <a:ea typeface="Arial" panose="020B0604020202020204" pitchFamily="34" charset="-122"/>
                <a:cs typeface="Arial" panose="020B0604020202020204" pitchFamily="34" charset="-120"/>
              </a:rPr>
              <a:t>Presented by Rajarajeswari Mani</a:t>
            </a:r>
            <a:endParaRPr lang="en-US" altLang="en-GB" sz="1250" i="1" dirty="0">
              <a:solidFill>
                <a:srgbClr val="6B7280"/>
              </a:solidFill>
              <a:latin typeface="Calibri" panose="020F050202020403020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7" name="Text 2"/>
          <p:cNvSpPr/>
          <p:nvPr/>
        </p:nvSpPr>
        <p:spPr>
          <a:xfrm>
            <a:off x="853440" y="4863465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altLang="en-GB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ZEISS – Software Architect, Embedded Control Systems</a:t>
            </a:r>
            <a:endParaRPr lang="en-US" alt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932688"/>
            <a:ext cx="11430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I'll Walk You Through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11430000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1097280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the task actually asks for, and what I need to deliver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Requirements — System, Hardware, Temperature/LED, Software &amp; Error Handling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My approach — the process I followed, step by step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Architecture decisions and why I made them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 implementation — what it does, how it's structured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C++ / OOP implementation — how it differs, and why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Testing — how I verified the requirements, and the results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Requirements coverage recap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568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INTRO — WHAT IS THE TASK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932688"/>
            <a:ext cx="11430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Task Description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11430000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521208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Architect and design software for a bare-metal embedded system used in a temperature monitoring and visualization device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device shows the operating condition on 3 LEDs — OK (green), Warning (yellow), Critical (red)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temperature sensor feeds an ADC; the microcontroller reads it, classifies it, and drives the LEDs via GPIO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 EEPROM (I2C) holds configuration: which hardware revision is fitted, and a serial number placeholder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is the block diagram given in the task spec — the starting point for everything I designed: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89320" y="1691640"/>
            <a:ext cx="5669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9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2011680"/>
            <a:ext cx="1371600" cy="2651760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20574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789420" y="2468880"/>
            <a:ext cx="411480" cy="4114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B2F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89420" y="246888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89420" y="3246120"/>
            <a:ext cx="411480" cy="4114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B2F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89420" y="324612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89420" y="4023360"/>
            <a:ext cx="411480" cy="4114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B2F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89420" y="402336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104120" y="2011680"/>
            <a:ext cx="118872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04120" y="2011680"/>
            <a:ext cx="1188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Temp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29800" y="3200400"/>
            <a:ext cx="146304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29800" y="3200400"/>
            <a:ext cx="14630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µC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92640" y="4754880"/>
            <a:ext cx="173736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4754880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EEPROM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698480" y="2514600"/>
            <a:ext cx="0" cy="685800"/>
          </a:xfrm>
          <a:prstGeom prst="line">
            <a:avLst/>
          </a:prstGeom>
          <a:noFill/>
          <a:ln w="15875">
            <a:solidFill>
              <a:srgbClr val="2B2F36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771632" y="256032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680960" y="3680460"/>
            <a:ext cx="2148840" cy="0"/>
          </a:xfrm>
          <a:prstGeom prst="line">
            <a:avLst/>
          </a:prstGeom>
          <a:noFill/>
          <a:ln w="15875">
            <a:solidFill>
              <a:srgbClr val="2B2F36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818120" y="3360420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GPIOs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561320" y="4160520"/>
            <a:ext cx="0" cy="594360"/>
          </a:xfrm>
          <a:prstGeom prst="line">
            <a:avLst/>
          </a:prstGeom>
          <a:noFill/>
          <a:ln w="15875">
            <a:solidFill>
              <a:srgbClr val="2B2F36"/>
            </a:solidFill>
            <a:prstDash val="solid"/>
            <a:headEnd type="triangl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0634472" y="4233672"/>
            <a:ext cx="5486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I2C</a:t>
            </a:r>
            <a:endParaRPr lang="en-US" sz="9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568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INTRO — DELIVERABLES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932688"/>
            <a:ext cx="11430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 Need to 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11430000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4297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Sample temperature via ADC every 100µs, very low jitter, and drive 3 GPIO LEDs from fixed thresholds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Support two hardware revisions with different sensor resolution, selected via EEPROM — only one active at a time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Write the software in C for a bare-metal target, demonstrable on a PC with mocked hardware — no real hardware or emulator required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Define ISR function(s) even though they don't need to be functional in the PC demo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Deliver a second implementation in C++ using OOP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Document the architecture as a diagram (.pdf / .png / .svg)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Publish everything (code + diagrams) to a public GitHub repository, link shared ≥ 24h before this interview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568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REQUIREMENTS 1/4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932688"/>
            <a:ext cx="11430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Requirements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11430000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65760" y="1627632"/>
          <a:ext cx="11430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96696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ID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Requirement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SYS-1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Monitor temperature and visualize status via 3 LEDs (OK / Warning / Critical).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SYS-2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Architecture documented as a diagram in .pdf / .png / .svg.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SYS-3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Demonstrable on a PC using mocked HW interfaces — no target hardware or emulator required.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SYS-4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Two implementations: C (procedural/bare-metal) and C++ (OOP).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SYS-5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Project + diagrams published to a public GitHub repository, link shared ≥24h before the interview.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568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REQUIREMENTS 2/4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932688"/>
            <a:ext cx="11430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Hardware Requirements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11430000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65760" y="1627632"/>
          <a:ext cx="11430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96696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ID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Requirement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HW-1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Temperature sensor connected to the MCU via an ADC channel.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HW-2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Three LEDs (Green/Yellow/Red) connected via GPIO pins.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HW-3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EEPROM provides hardware revision + serial number; mocked for the PC demo.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HW-4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Two hardware revisions supported: Rev-A = 1 °C/digit, Rev-B = 0.1 °C/digit. Only one active at a time.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HW-5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Timer peripheral generating a periodic interrupt at 100µs to drive sampling.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568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REQUIREMENTS 3/4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932688"/>
            <a:ext cx="11430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Temperature Conversion &amp; LED Requirements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11430000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65760" y="1627632"/>
          <a:ext cx="11430000" cy="1424940"/>
        </p:xfrm>
        <a:graphic>
          <a:graphicData uri="http://schemas.openxmlformats.org/drawingml/2006/table">
            <a:tbl>
              <a:tblPr/>
              <a:tblGrid>
                <a:gridCol w="2122170"/>
                <a:gridCol w="930783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ID</a:t>
                      </a:r>
                      <a:endParaRPr lang="en-US" sz="14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Requirement</a:t>
                      </a:r>
                      <a:endParaRPr lang="en-US" sz="14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TEMP-1 / TEMP-2</a:t>
                      </a:r>
                      <a:endParaRPr lang="en-US" sz="13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Rev-A: raw = °C directly. Rev-B: raw at 0.1°C resolution (raw 100 = 10°C).</a:t>
                      </a:r>
                      <a:endParaRPr lang="en-US" sz="13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TEMP-3 / TEMP-4</a:t>
                      </a:r>
                      <a:endParaRPr lang="en-US" sz="13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Conversion uses the EEPROM-configured revision; an invalid revision is rejected.</a:t>
                      </a:r>
                      <a:endParaRPr lang="en-US" sz="13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LED-1 / LED-2 / LED-3</a:t>
                      </a:r>
                      <a:endParaRPr lang="en-US" sz="13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Green: 5°C≤T&lt;85°C. Yellow: 85°C≤T&lt;105°C. Red: T≥105°C or T&lt;5°C.</a:t>
                      </a:r>
                      <a:endParaRPr lang="en-US" sz="13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LED-4 / LED-5</a:t>
                      </a:r>
                      <a:endParaRPr lang="en-US" sz="13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Exactly one LED lit at a time; all three boundaries handled explicitly.</a:t>
                      </a:r>
                      <a:endParaRPr lang="en-US" sz="13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568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REQUIREMENTS 4/4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932688"/>
            <a:ext cx="11430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Software &amp; Error Handling Requirements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11430000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365760" y="1627632"/>
          <a:ext cx="11430000" cy="1661160"/>
        </p:xfrm>
        <a:graphic>
          <a:graphicData uri="http://schemas.openxmlformats.org/drawingml/2006/table">
            <a:tbl>
              <a:tblPr/>
              <a:tblGrid>
                <a:gridCol w="2192655"/>
                <a:gridCol w="9237345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ID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Requirement</a:t>
                      </a:r>
                      <a:endParaRPr lang="en-US" sz="14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SW-1 / SW-2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Sample every 100µs, very low jitter; ISR does minimal deterministic work only (read, latch, flag).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SW-3 / SW-4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Convert raw→°C per hardware revision; read revision + serial from EEPROM at startup.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SW-5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ISR function(s) defined/implemented, even if not wired to a real interrupt in the PC demo.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SW-6 / SW-7 / SW-8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 bare-metal + C++ OOP, both with mocked ADC/GPIO/EEPROM interfaces for the PC demo.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ERR-1 / ERR-2 / ERR-3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Invalid hardware revision and NULL sensor pointer rejected; no silent fallback to a wrong resolution.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568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932688"/>
            <a:ext cx="11430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My Approach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11430000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rgbClr val="2B3648"/>
          </a:solidFill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457200" y="169164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1005840" y="1664208"/>
            <a:ext cx="10698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Read the spec closely, extracted requirements</a:t>
            </a:r>
            <a:endParaRPr lang="en-US" sz="145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005840" y="1947672"/>
            <a:ext cx="10698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Split into System / Hardware / Software requirements, each given an ID (SYS-x, HW-x, SW-x) — just covered — so every line in the task PDF traces to something concrete.</a:t>
            </a:r>
            <a:endParaRPr lang="en-US" sz="115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457200" y="2441448"/>
            <a:ext cx="384048" cy="384048"/>
          </a:xfrm>
          <a:prstGeom prst="ellipse">
            <a:avLst/>
          </a:prstGeom>
          <a:solidFill>
            <a:srgbClr val="2B3648"/>
          </a:solidFill>
        </p:spPr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457200" y="244144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1005840" y="2414016"/>
            <a:ext cx="10698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Designed the architecture before writing code</a:t>
            </a:r>
            <a:endParaRPr lang="en-US" sz="1450" dirty="0"/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1005840" y="2697480"/>
            <a:ext cx="10698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static view, hardware static view, software static view (class diagram), software dynamic view (sequence diagram) — drawn in Mermaid</a:t>
            </a:r>
            <a:endParaRPr lang="en-US" sz="1150" dirty="0"/>
          </a:p>
        </p:txBody>
      </p:sp>
      <p:sp>
        <p:nvSpPr>
          <p:cNvPr id="13" name="Shape 11"/>
          <p:cNvSpPr/>
          <p:nvPr>
            <p:custDataLst>
              <p:tags r:id="rId9"/>
            </p:custDataLst>
          </p:nvPr>
        </p:nvSpPr>
        <p:spPr>
          <a:xfrm>
            <a:off x="457200" y="3191256"/>
            <a:ext cx="384048" cy="384048"/>
          </a:xfrm>
          <a:prstGeom prst="ellipse">
            <a:avLst/>
          </a:prstGeom>
          <a:solidFill>
            <a:srgbClr val="2B3648"/>
          </a:solidFill>
        </p:spPr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457200" y="319125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1005840" y="3163824"/>
            <a:ext cx="10698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Built the C implementation first</a:t>
            </a:r>
            <a:endParaRPr lang="en-US" sz="1450" dirty="0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1005840" y="3447288"/>
            <a:ext cx="10698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Plain procedural C: HAL layer (ADC/GPIO/EEPROM), sensor driver, classifier, LED controller, minimal-work ISR, mocked hardware for PC demo.</a:t>
            </a:r>
            <a:endParaRPr lang="en-US" sz="1150" dirty="0"/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457200" y="3941064"/>
            <a:ext cx="384048" cy="384048"/>
          </a:xfrm>
          <a:prstGeom prst="ellipse">
            <a:avLst/>
          </a:prstGeom>
          <a:solidFill>
            <a:srgbClr val="2B3648"/>
          </a:solidFill>
        </p:spPr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457200" y="3941064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1005840" y="3913632"/>
            <a:ext cx="10698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Re-architected the same behavior in C++ (OOP)</a:t>
            </a:r>
            <a:endParaRPr lang="en-US" sz="1450" dirty="0"/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1005840" y="4197096"/>
            <a:ext cx="10698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Interfaces + dependency injection for hardware abstraction, Strategy pattern for the Rev-A/Rev-B resolution difference, one orchestrator class.</a:t>
            </a:r>
            <a:endParaRPr lang="en-US" sz="1150" dirty="0"/>
          </a:p>
        </p:txBody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457200" y="4690872"/>
            <a:ext cx="384048" cy="384048"/>
          </a:xfrm>
          <a:prstGeom prst="ellipse">
            <a:avLst/>
          </a:prstGeom>
          <a:solidFill>
            <a:srgbClr val="2B3648"/>
          </a:solidFill>
        </p:spPr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457200" y="469087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>
            <p:custDataLst>
              <p:tags r:id="rId19"/>
            </p:custDataLst>
          </p:nvPr>
        </p:nvSpPr>
        <p:spPr>
          <a:xfrm>
            <a:off x="1005840" y="4663440"/>
            <a:ext cx="10698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Wrote automated tests for both, tied to requirements</a:t>
            </a:r>
            <a:endParaRPr lang="en-US" sz="1450" dirty="0"/>
          </a:p>
        </p:txBody>
      </p:sp>
      <p:sp>
        <p:nvSpPr>
          <p:cNvPr id="24" name="Text 22"/>
          <p:cNvSpPr/>
          <p:nvPr>
            <p:custDataLst>
              <p:tags r:id="rId20"/>
            </p:custDataLst>
          </p:nvPr>
        </p:nvSpPr>
        <p:spPr>
          <a:xfrm>
            <a:off x="1005840" y="4946904"/>
            <a:ext cx="10698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Each test case maps to a specific requirement ID — boundary conditions, revision selection, EEPROM round-trip, ISR presence.</a:t>
            </a:r>
            <a:endParaRPr lang="en-US" sz="1150" dirty="0"/>
          </a:p>
        </p:txBody>
      </p:sp>
      <p:sp>
        <p:nvSpPr>
          <p:cNvPr id="25" name="Shape 23"/>
          <p:cNvSpPr/>
          <p:nvPr>
            <p:custDataLst>
              <p:tags r:id="rId21"/>
            </p:custDataLst>
          </p:nvPr>
        </p:nvSpPr>
        <p:spPr>
          <a:xfrm>
            <a:off x="457200" y="5440680"/>
            <a:ext cx="384048" cy="384048"/>
          </a:xfrm>
          <a:prstGeom prst="ellipse">
            <a:avLst/>
          </a:prstGeom>
          <a:solidFill>
            <a:srgbClr val="2B3648"/>
          </a:solidFill>
        </p:spPr>
      </p:sp>
      <p:sp>
        <p:nvSpPr>
          <p:cNvPr id="26" name="Text 24"/>
          <p:cNvSpPr/>
          <p:nvPr>
            <p:custDataLst>
              <p:tags r:id="rId22"/>
            </p:custDataLst>
          </p:nvPr>
        </p:nvSpPr>
        <p:spPr>
          <a:xfrm>
            <a:off x="457200" y="544068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>
            <p:custDataLst>
              <p:tags r:id="rId23"/>
            </p:custDataLst>
          </p:nvPr>
        </p:nvSpPr>
        <p:spPr>
          <a:xfrm>
            <a:off x="1005840" y="5413248"/>
            <a:ext cx="10698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Documented and packaged for review</a:t>
            </a:r>
            <a:endParaRPr lang="en-US" sz="1450" dirty="0"/>
          </a:p>
        </p:txBody>
      </p:sp>
      <p:sp>
        <p:nvSpPr>
          <p:cNvPr id="28" name="Text 26"/>
          <p:cNvSpPr/>
          <p:nvPr>
            <p:custDataLst>
              <p:tags r:id="rId24"/>
            </p:custDataLst>
          </p:nvPr>
        </p:nvSpPr>
        <p:spPr>
          <a:xfrm>
            <a:off x="1005840" y="5696712"/>
            <a:ext cx="10698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presentation, README with build instructions, requirements &amp; test-plan docs, all pushed to a public GitHub repo.</a:t>
            </a:r>
            <a:endParaRPr lang="en-US" sz="11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568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DESIGN 1/2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932688"/>
            <a:ext cx="11430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Architecture, At a Glance — System &amp; Hardware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11430000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" y="1691640"/>
            <a:ext cx="3566160" cy="4023360"/>
          </a:xfrm>
          <a:prstGeom prst="rect">
            <a:avLst/>
          </a:prstGeom>
          <a:solidFill>
            <a:srgbClr val="FAFBFC"/>
          </a:solidFill>
          <a:ln w="12700">
            <a:solidFill>
              <a:srgbClr val="D6D9DE"/>
            </a:solidFill>
            <a:prstDash val="solid"/>
          </a:ln>
        </p:spPr>
      </p:sp>
      <p:pic>
        <p:nvPicPr>
          <p:cNvPr id="6" name="Image 0" descr="00_Overall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801368"/>
            <a:ext cx="3383280" cy="11831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8076" y="534924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36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Overall architecture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11396" y="1691640"/>
            <a:ext cx="3566160" cy="4023360"/>
          </a:xfrm>
          <a:prstGeom prst="rect">
            <a:avLst/>
          </a:prstGeom>
          <a:solidFill>
            <a:srgbClr val="FAFBFC"/>
          </a:solidFill>
          <a:ln w="12700">
            <a:solidFill>
              <a:srgbClr val="D6D9DE"/>
            </a:solidFill>
            <a:prstDash val="solid"/>
          </a:ln>
        </p:spPr>
      </p:sp>
      <p:pic>
        <p:nvPicPr>
          <p:cNvPr id="9" name="Image 1" descr="01_system_static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836" y="1801368"/>
            <a:ext cx="3383280" cy="27819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11396" y="534924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36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static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014716" y="1691640"/>
            <a:ext cx="3566160" cy="4023360"/>
          </a:xfrm>
          <a:prstGeom prst="rect">
            <a:avLst/>
          </a:prstGeom>
          <a:solidFill>
            <a:srgbClr val="FAFBFC"/>
          </a:solidFill>
          <a:ln w="12700">
            <a:solidFill>
              <a:srgbClr val="D6D9DE"/>
            </a:solidFill>
            <a:prstDash val="solid"/>
          </a:ln>
        </p:spPr>
      </p:sp>
      <p:pic>
        <p:nvPicPr>
          <p:cNvPr id="12" name="Image 2" descr="02_hardware_static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156" y="1801368"/>
            <a:ext cx="3383280" cy="154496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14716" y="534924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36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Hardware static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 seven diagrams, plus a block-by-block explanation of each, are in docs/diagrams.md in the repo.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568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DESIGN 2/2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932688"/>
            <a:ext cx="11430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Architecture, At a Glance — Software (C vs C++)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11430000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0916" y="1691640"/>
            <a:ext cx="2708910" cy="4023360"/>
          </a:xfrm>
          <a:prstGeom prst="rect">
            <a:avLst/>
          </a:prstGeom>
          <a:solidFill>
            <a:srgbClr val="FAFBFC"/>
          </a:solidFill>
          <a:ln w="12700">
            <a:solidFill>
              <a:srgbClr val="D6D9DE"/>
            </a:solidFill>
            <a:prstDash val="solid"/>
          </a:ln>
        </p:spPr>
      </p:sp>
      <p:pic>
        <p:nvPicPr>
          <p:cNvPr id="6" name="Image 0" descr="03_software_static_architecture_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801368"/>
            <a:ext cx="2526030" cy="24931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0916" y="5349240"/>
            <a:ext cx="270891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36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 static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16986" y="1691640"/>
            <a:ext cx="2708910" cy="4023360"/>
          </a:xfrm>
          <a:prstGeom prst="rect">
            <a:avLst/>
          </a:prstGeom>
          <a:solidFill>
            <a:srgbClr val="FAFBFC"/>
          </a:solidFill>
          <a:ln w="12700">
            <a:solidFill>
              <a:srgbClr val="D6D9DE"/>
            </a:solidFill>
            <a:prstDash val="solid"/>
          </a:ln>
        </p:spPr>
      </p:sp>
      <p:pic>
        <p:nvPicPr>
          <p:cNvPr id="9" name="Image 1" descr="04_software_dynamic_architecture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426" y="1801368"/>
            <a:ext cx="2526030" cy="16444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16986" y="5349240"/>
            <a:ext cx="270891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36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 dynamic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163056" y="1691640"/>
            <a:ext cx="2708910" cy="4023360"/>
          </a:xfrm>
          <a:prstGeom prst="rect">
            <a:avLst/>
          </a:prstGeom>
          <a:solidFill>
            <a:srgbClr val="FAFBFC"/>
          </a:solidFill>
          <a:ln w="12700">
            <a:solidFill>
              <a:srgbClr val="D6D9DE"/>
            </a:solidFill>
            <a:prstDash val="solid"/>
          </a:ln>
        </p:spPr>
      </p:sp>
      <p:pic>
        <p:nvPicPr>
          <p:cNvPr id="12" name="Image 2" descr="05_software_static_architecture_c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01368"/>
            <a:ext cx="2526030" cy="15185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63056" y="5349240"/>
            <a:ext cx="270891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36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C++ static (UML)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9009126" y="1691640"/>
            <a:ext cx="2708910" cy="4023360"/>
          </a:xfrm>
          <a:prstGeom prst="rect">
            <a:avLst/>
          </a:prstGeom>
          <a:solidFill>
            <a:srgbClr val="FAFBFC"/>
          </a:solidFill>
          <a:ln w="12700">
            <a:solidFill>
              <a:srgbClr val="D6D9DE"/>
            </a:solidFill>
            <a:prstDash val="solid"/>
          </a:ln>
        </p:spPr>
      </p:sp>
      <p:pic>
        <p:nvPicPr>
          <p:cNvPr id="15" name="Image 3" descr="06_software_dynamic_architecture_cp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0566" y="1801368"/>
            <a:ext cx="2526030" cy="233621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09126" y="5349240"/>
            <a:ext cx="270891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36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C++ dynamic (UML)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Same deferred-processing pattern in both languages: a minimal-work ISR latches the raw value; conversion, classification, and LED update happen in the main loop.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568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932688"/>
            <a:ext cx="11430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Design Decisions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11430000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11247120" cy="4206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Minimal-work ISR: the 100µs interrupt only latches the raw ADC value and sets a flag — no float math, no I/O — so the interrupt has constant, predictable execution time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Deferred processing: conversion, classification, and LED updates happen in the main loop, outside interrupt context, right after the flag is set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Strategy pattern for sensor resolution: Rev-A/Rev-B is a swappable object (C++) or a simple selector (C), chosen once from EEPROM at startup — not an if/else sprinkled through the code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Hardware abstraction + dependency injection: IAdc / IGpio / IEeprom interfaces mean the exact same application logic runs against mocks on a PC or real peripherals on target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568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DESIGN RATIONALE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932688"/>
            <a:ext cx="11430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Keep the ISR Minimal?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11430000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11247120" cy="4206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100µs period = a 10 kHz sampling event — whatever runs in the ISR runs 10,000 times a second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short, constant-time ISR reduces interrupt execution time and timing variability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Avoiding long operations (float math, I/O, EEPROM access) in interrupt context protects the real-time sampling path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Deferred processing makes the split between “time-critical” and “application-level” work explicit in the architecture, not just a comment in the code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also makes the design easier to reason about and verify — the ISR has exactly one job, so it's easy to review and easy to test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568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RESULTS — 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932688"/>
            <a:ext cx="11430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 Implementation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11430000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5120640" cy="4206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Plain, procedural C11 — structs and free functions, no function pointers or opaque handles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adc.h / gpio.h / eeprom.h / temp_sensor.h / led_controller.h / isr.h / config.h, each mocked for the PC demo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main.c drives a synthetic temperature ramp through both hardware revisions (with their own EEPROM serial numbers) and prints the resulting LED state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Builds with gcc -std=c11 -Wall -Wextra -Wpedantic — zero warnings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0" y="1691640"/>
            <a:ext cx="5943600" cy="4206240"/>
          </a:xfrm>
          <a:prstGeom prst="roundRect">
            <a:avLst>
              <a:gd name="adj" fmla="val 870"/>
            </a:avLst>
          </a:prstGeom>
          <a:solidFill>
            <a:srgbClr val="F4F5F6"/>
          </a:solidFill>
          <a:ln w="12700">
            <a:solidFill>
              <a:srgbClr val="D6D9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1764792"/>
            <a:ext cx="5669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temp_monitor_demo — actual console output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97880" y="2020824"/>
            <a:ext cx="5669280" cy="0"/>
          </a:xfrm>
          <a:prstGeom prst="line">
            <a:avLst/>
          </a:prstGeom>
          <a:noFill/>
          <a:ln w="9525">
            <a:solidFill>
              <a:srgbClr val="D6D9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2112264"/>
            <a:ext cx="5669280" cy="36941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make &amp;&amp; ./temp_monitor_demo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 Hardware Revision: Rev-A (1 degC/digit) | Serial: ABC1234 ===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[GPIO] LED GREEN  -&gt; ON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[OK (low-normal)] raw=20  temp= 20.0C status=OK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[GPIO] LED YELLOW -&gt; ON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[WARNING (&gt;=85C)] raw=90  temp= 90.0C status=WARNING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[GPIO] LED RED    -&gt; ON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[CRITICAL (&gt;=105C)] raw=110 temp=110.0C status=CRITICAL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[CRITICAL (&lt;5C, cold)] raw=2 temp=  2.0C status=CRITICAL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[back to OK] raw=25 temp= 25.0C status=OK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 Hardware Revision: Rev-B (0.1 degC/digit) | Serial: XYZ9876 ===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[OK] raw=200 temp=20.0C ... same sequence, x0.1 scale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568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RESULTS — C++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932688"/>
            <a:ext cx="11430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C++ / OOP Implementation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11430000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5120640" cy="4206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C++17, interfaces + dependency injection: IAdc, IGpio, IEeprom, ISensorResolutionStrategy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TemperatureSensor, TemperatureClassifier, LedController, TemperatureMonitor (orchestrator)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RevAResolutionStrategy / RevBResolutionStrategy implement the Strategy pattern for the two hardware revisions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TimerIsr provides a C-linkage trampoline, standing in for a real interrupt vector table entry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Builds with g++ -std=c++17 -Wall -Wextra -Wpedantic — zero warnings, both via Makefile and CMake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0" y="1691640"/>
            <a:ext cx="5943600" cy="4206240"/>
          </a:xfrm>
          <a:prstGeom prst="roundRect">
            <a:avLst>
              <a:gd name="adj" fmla="val 870"/>
            </a:avLst>
          </a:prstGeom>
          <a:solidFill>
            <a:srgbClr val="F4F5F6"/>
          </a:solidFill>
          <a:ln w="12700">
            <a:solidFill>
              <a:srgbClr val="D6D9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1764792"/>
            <a:ext cx="5669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temp_monitor_cpp_demo — actual console output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97880" y="2020824"/>
            <a:ext cx="5669280" cy="0"/>
          </a:xfrm>
          <a:prstGeom prst="line">
            <a:avLst/>
          </a:prstGeom>
          <a:noFill/>
          <a:ln w="9525">
            <a:solidFill>
              <a:srgbClr val="D6D9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2112264"/>
            <a:ext cx="5669280" cy="36941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make &amp;&amp; ./temp_monitor_cpp_demo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 Hardware Revision: Rev-A (1 degC/digit) | Serial: ABC1234 ===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[GPIO] LED GREEN  -&gt; ON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[OK (low-normal)] raw=20  temp= 20.0C status=OK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[GPIO] LED YELLOW -&gt; ON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[WARNING (&gt;=85C)] raw=90  temp= 90.0C status=WARNING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[GPIO] LED RED    -&gt; ON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[CRITICAL (&gt;=105C)] raw=110 temp=110.0C status=CRITICAL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[CRITICAL (&lt;5C, cold)] raw=2 temp=  2.0C status=CRITICAL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[back to OK] raw=25 temp= 25.0C status=OK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Identical behavior to the C demo, incl. Rev-B — same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demo points, different implementation paradigm.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568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932688"/>
            <a:ext cx="11430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 Verified 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11430000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 requirement (SYS/HW/TEMP/LED/SW/ERR-x) has at least one test case tied to it in docs/TEST_PLAN.md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Both C and C++ have a self-contained test suite — no external framework to install, just `make test`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Covers: revision conversion scaling, all three threshold boundaries, exactly-one-LED-lit invariant, EEPROM-driven revision selection, serial round-trip, ISR presence, invalid revision / NULL pointer rejection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Also run automatically on every push via GitHub Actions (.github/workflows/ci.yml)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86200"/>
            <a:ext cx="5532120" cy="2148840"/>
          </a:xfrm>
          <a:prstGeom prst="roundRect">
            <a:avLst>
              <a:gd name="adj" fmla="val 1702"/>
            </a:avLst>
          </a:prstGeom>
          <a:solidFill>
            <a:srgbClr val="F4F5F6"/>
          </a:solidFill>
          <a:ln w="12700">
            <a:solidFill>
              <a:srgbClr val="D6D9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959352"/>
            <a:ext cx="5257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 — make test (11 checks)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4215384"/>
            <a:ext cx="5257800" cy="0"/>
          </a:xfrm>
          <a:prstGeom prst="line">
            <a:avLst/>
          </a:prstGeom>
          <a:noFill/>
          <a:ln w="9525">
            <a:solidFill>
              <a:srgbClr val="D6D9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306824"/>
            <a:ext cx="5257800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cd c &amp;&amp; make test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[TEST 1] TC-01 Rev-A raw-&gt;Celsius (x1) ... PASS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[TEST 4] TC-04 WARNING/CRITICAL boundary at 105C ... PASS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[TEST 10] TC-11 invalid hardware revision rejected ... PASS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[TEST 11] TC-12 NULL sensor pointer rejected ... PASS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Passed: 11   Failed: 0   -&gt; ALL TESTS PASSED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3886200"/>
            <a:ext cx="5532120" cy="2148840"/>
          </a:xfrm>
          <a:prstGeom prst="roundRect">
            <a:avLst>
              <a:gd name="adj" fmla="val 1702"/>
            </a:avLst>
          </a:prstGeom>
          <a:solidFill>
            <a:srgbClr val="F4F5F6"/>
          </a:solidFill>
          <a:ln w="12700">
            <a:solidFill>
              <a:srgbClr val="D6D9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3959352"/>
            <a:ext cx="5257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C++ — make test (10 checks)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4215384"/>
            <a:ext cx="5257800" cy="0"/>
          </a:xfrm>
          <a:prstGeom prst="line">
            <a:avLst/>
          </a:prstGeom>
          <a:noFill/>
          <a:ln w="9525">
            <a:solidFill>
              <a:srgbClr val="D6D9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4306824"/>
            <a:ext cx="5257800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cd cpp &amp;&amp; make test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[TEST 1] TC-01 Rev-A raw-&gt;Celsius (x1) ... PASS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[TEST 4] TC-04 WARNING/CRITICAL boundary at 105C ... PASS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[TEST 9] TC-10 ISR entry point (onTimerTick) ... PASS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[TEST 10] TC-11 invalid hardware revision rejected ... PASS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F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Passed: 10   Failed: 0   -&gt; ALL TESTS PASSED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568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SCOPE &amp; HONESTY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932688"/>
            <a:ext cx="11430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the PC Demo Proves — and Doesn't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11430000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5440680" cy="4114800"/>
          </a:xfrm>
          <a:prstGeom prst="roundRect">
            <a:avLst>
              <a:gd name="adj" fmla="val 1333"/>
            </a:avLst>
          </a:prstGeom>
          <a:solidFill>
            <a:srgbClr val="F4F9F5"/>
          </a:solidFill>
          <a:ln w="12700">
            <a:solidFill>
              <a:srgbClr val="BFE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6B3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Proven on the PC demo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4937760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Functional behavior of the whole pipeline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 and C++ produce equivalent results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Mocked hardware integration (ADC / GPIO / EEPROM)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Rev-A / Rev-B conversion correctness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Temperature classification and boundaries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LED behavior — exactly one lit at a time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ISR / application separation (the code structure itself)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440680" cy="4114800"/>
          </a:xfrm>
          <a:prstGeom prst="roundRect">
            <a:avLst>
              <a:gd name="adj" fmla="val 1333"/>
            </a:avLst>
          </a:prstGeom>
          <a:solidFill>
            <a:srgbClr val="FBF6EC"/>
          </a:solidFill>
          <a:ln w="12700">
            <a:solidFill>
              <a:srgbClr val="F0DD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61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Still needs target hardware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937760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Actual timer accuracy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True 100µs period on real silicon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 interrupt jitter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ADC sampling timing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 ISR execution time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Timing margin under real system load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568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932688"/>
            <a:ext cx="11430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Results Summary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11430000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57200" y="1828800"/>
            <a:ext cx="2571750" cy="155448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 w="12700">
            <a:solidFill>
              <a:srgbClr val="D6D9DE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457200" y="1938528"/>
            <a:ext cx="257175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21 / 21</a:t>
            </a:r>
            <a:endParaRPr lang="en-US" sz="300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457200" y="2971800"/>
            <a:ext cx="257175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Automated tests passing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(11 C + 10 C++)</a:t>
            </a:r>
            <a:endParaRPr lang="en-US" sz="1100" dirty="0"/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3348990" y="1828800"/>
            <a:ext cx="2571750" cy="155448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 w="12700">
            <a:solidFill>
              <a:srgbClr val="D6D9DE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3348990" y="1938528"/>
            <a:ext cx="257175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3348990" y="2971800"/>
            <a:ext cx="257175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Compiler warnings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(-Wall -Wextra -Wpedantic)</a:t>
            </a:r>
            <a:endParaRPr lang="en-US" sz="1100" dirty="0"/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6240780" y="1828800"/>
            <a:ext cx="2571750" cy="155448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 w="12700">
            <a:solidFill>
              <a:srgbClr val="D6D9DE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6240780" y="1938528"/>
            <a:ext cx="257175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36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6240780" y="2971800"/>
            <a:ext cx="257175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Working implementations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(C procedural, C++ OOP)</a:t>
            </a:r>
            <a:endParaRPr lang="en-US" sz="1100" dirty="0"/>
          </a:p>
        </p:txBody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9132570" y="1828800"/>
            <a:ext cx="2571750" cy="155448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 w="12700">
            <a:solidFill>
              <a:srgbClr val="D6D9DE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9132570" y="1938528"/>
            <a:ext cx="257175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36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3000" dirty="0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9132570" y="2971800"/>
            <a:ext cx="257175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Architecture diagrams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(verified)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1124712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Both demo programs run end-to-end on a plain PC — no target hardware, no emulator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Both build clean via their documented commands (make, and CMake for C++) — verified from a fresh clone, not just on my machine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 requirement in the task PDF is traced to a design element and at least one test case — see docs/REQUIREMENTS.md and docs/TEST_PLAN.md</a:t>
            </a:r>
            <a:endParaRPr lang="en-US" sz="1400" dirty="0"/>
          </a:p>
          <a:p>
            <a:pPr marL="228600" indent="-228600" algn="l">
              <a:spcAft>
                <a:spcPts val="1000"/>
              </a:spcAft>
              <a:buClrTx/>
              <a:buSzTx/>
              <a:buFontTx/>
              <a:buChar char="•"/>
            </a:pPr>
            <a:r>
              <a:rPr lang="en-US" sz="14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All Architecture </a:t>
            </a:r>
            <a:r>
              <a:rPr lang="en-US" sz="140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Diagrams were re-checked and verified</a:t>
            </a:r>
            <a:endParaRPr lang="en-US" sz="1400" dirty="0">
              <a:solidFill>
                <a:srgbClr val="2B2F36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568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TRACEABILITY 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932688"/>
            <a:ext cx="11430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Closing the Loop — Every Requirement Accounted For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11430000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457200" y="1645920"/>
          <a:ext cx="112471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41248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Category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Status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System (SYS-1..5)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Done — architecture documented, C+C++ delivered, PC-mocked demo; publishing to GitHub is the one remaining step, covered on the next slide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Hardware (HW-1..5)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Done — ADC, GPIO, I2C EEPROM, timer, two revisions all represented in the abstraction layer + diagrams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Temperature &amp; LED (TEMP-1..4, LED-1..5)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Done — Rev-A/Rev-B conversion, all three thresholds (5, 85, 105°C), exactly-one-LED invariant, all boundary-tested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Software (SW-1..8)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Done — 100µs minimal-work ISR, revision-aware conversion, EEPROM config, mocked HW, both language implementations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Error Handling (ERR-1..3)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Done — invalid hardware revision and NULL sensor pointer rejected, no silent fallback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 ID-by-ID traceability table is in docs/REQUIREMENTS.md in the repo.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568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GITHUB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932688"/>
            <a:ext cx="11430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Repository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11430000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9050">
            <a:solidFill>
              <a:srgbClr val="4454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10698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GB" sz="1700" dirty="0">
                <a:latin typeface="Consolas" panose="020B0609020204030204" pitchFamily="34" charset="0"/>
                <a:cs typeface="Consolas" panose="020B0609020204030204" pitchFamily="34" charset="0"/>
                <a:hlinkClick r:id="rId1" tooltip="" action="ppaction://hlinkfile"/>
              </a:rPr>
              <a:t>https://github.com/RajarajeswariMani/Temperature-Monitoring-and-Visualization-System</a:t>
            </a:r>
            <a:endParaRPr lang="en-US" altLang="en-GB" sz="1700" dirty="0">
              <a:latin typeface="Consolas" panose="020B0609020204030204" pitchFamily="34" charset="0"/>
              <a:cs typeface="Consolas" panose="020B0609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Public repository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4712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Public repository — code (c/, cpp/), diagrams (docs/diagrams/), docs (README, REQUIREMENTS, TEST_PLAN), and this presentation, all in one place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Builds from a clean clone with the documented commands (make in c/ and cpp/, or CMake for C++)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GitHub Actions runs the full build + test suite on every push, so the green checkmark is live proof it still works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Link shared with you ≥ 24h ahead of this interview, per the task's own requirement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568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932688"/>
            <a:ext cx="11430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Engineering Takeaways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11430000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rgbClr val="2B3648"/>
          </a:solidFill>
        </p:spPr>
      </p:sp>
      <p:sp>
        <p:nvSpPr>
          <p:cNvPr id="6" name="Text 4"/>
          <p:cNvSpPr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664208"/>
            <a:ext cx="10698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Keep the 100µs ISR minimal and deterministic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05840" y="1947672"/>
            <a:ext cx="10698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One HAL read, two variable writes — nothing else runs in interrupt context.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rgbClr val="2B3648"/>
          </a:solidFill>
        </p:spPr>
      </p:sp>
      <p:sp>
        <p:nvSpPr>
          <p:cNvPr id="10" name="Text 8"/>
          <p:cNvSpPr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322576"/>
            <a:ext cx="10698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Separate real-time acquisition from application processing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05840" y="2606040"/>
            <a:ext cx="10698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sample-ready flag is the explicit hand-off point between the two.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rgbClr val="2B3648"/>
          </a:solidFill>
        </p:spPr>
      </p:sp>
      <p:sp>
        <p:nvSpPr>
          <p:cNvPr id="14" name="Text 12"/>
          <p:cNvSpPr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2980944"/>
            <a:ext cx="10698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Abstract hardware so the application can run on a PC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05840" y="3264408"/>
            <a:ext cx="10698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IAdc / IGpio / IEeprom (and their C equivalents) mean no target hardware is required to demonstrate or test the logic.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666744"/>
            <a:ext cx="384048" cy="384048"/>
          </a:xfrm>
          <a:prstGeom prst="ellipse">
            <a:avLst/>
          </a:prstGeom>
          <a:solidFill>
            <a:srgbClr val="2B3648"/>
          </a:solidFill>
        </p:spPr>
      </p:sp>
      <p:sp>
        <p:nvSpPr>
          <p:cNvPr id="18" name="Text 16"/>
          <p:cNvSpPr/>
          <p:nvPr/>
        </p:nvSpPr>
        <p:spPr>
          <a:xfrm>
            <a:off x="457200" y="3666744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3639312"/>
            <a:ext cx="10698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Keep revision-specific conversion isolated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05840" y="3922776"/>
            <a:ext cx="10698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Strategy pattern (C++) / single conversion function (C) instead of Rev-A/Rev-B conditionals spread through the code.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325112"/>
            <a:ext cx="384048" cy="384048"/>
          </a:xfrm>
          <a:prstGeom prst="ellipse">
            <a:avLst/>
          </a:prstGeom>
          <a:solidFill>
            <a:srgbClr val="2B3648"/>
          </a:solidFill>
        </p:spPr>
      </p:sp>
      <p:sp>
        <p:nvSpPr>
          <p:cNvPr id="22" name="Text 20"/>
          <p:cNvSpPr/>
          <p:nvPr/>
        </p:nvSpPr>
        <p:spPr>
          <a:xfrm>
            <a:off x="457200" y="432511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4297680"/>
            <a:ext cx="10698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Implement the functional baseline in C first, then re-architect in C++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005840" y="4581144"/>
            <a:ext cx="10698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Same behavior, two paradigms — makes the OOP benefits concrete rather than theoretical.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983480"/>
            <a:ext cx="384048" cy="384048"/>
          </a:xfrm>
          <a:prstGeom prst="ellipse">
            <a:avLst/>
          </a:prstGeom>
          <a:solidFill>
            <a:srgbClr val="2B3648"/>
          </a:solidFill>
        </p:spPr>
      </p:sp>
      <p:sp>
        <p:nvSpPr>
          <p:cNvPr id="26" name="Text 24"/>
          <p:cNvSpPr/>
          <p:nvPr/>
        </p:nvSpPr>
        <p:spPr>
          <a:xfrm>
            <a:off x="457200" y="498348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5840" y="4956048"/>
            <a:ext cx="10698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Verify behavior through explicit requirements and tests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005840" y="5239512"/>
            <a:ext cx="10698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 requirement ID traces to a design element and at least one automated or reviewed test case.</a:t>
            </a:r>
            <a:endParaRPr lang="en-US" sz="11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568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F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743200"/>
            <a:ext cx="2743200" cy="0"/>
          </a:xfrm>
          <a:prstGeom prst="line">
            <a:avLst/>
          </a:prstGeom>
          <a:noFill/>
          <a:ln w="25400">
            <a:solidFill>
              <a:srgbClr val="445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92608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Happy to walk through any part of the code, diagrams, or test results in detail.</a:t>
            </a:r>
            <a:endParaRPr lang="en-US" sz="15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2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3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4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5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6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7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8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9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10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11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12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13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14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15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16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17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18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19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20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21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22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23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24.xml><?xml version="1.0" encoding="utf-8"?>
<p:tagLst xmlns:p="http://schemas.openxmlformats.org/presentationml/2006/main">
  <p:tag name="KSO_WM_DIAGRAM_VIRTUALLY_FRAME" val="{&quot;height&quot;:354.96,&quot;left&quot;:36,&quot;top&quot;:131.04000000000002,&quot;width&quot;:885.6}"/>
</p:tagLst>
</file>

<file path=ppt/tags/tag25.xml><?xml version="1.0" encoding="utf-8"?>
<p:tagLst xmlns:p="http://schemas.openxmlformats.org/presentationml/2006/main">
  <p:tag name="KSO_WM_DIAGRAM_VIRTUALLY_FRAME" val="{&quot;height&quot;:122.4,&quot;left&quot;:36,&quot;top&quot;:144,&quot;width&quot;:885.6}"/>
</p:tagLst>
</file>

<file path=ppt/tags/tag26.xml><?xml version="1.0" encoding="utf-8"?>
<p:tagLst xmlns:p="http://schemas.openxmlformats.org/presentationml/2006/main">
  <p:tag name="KSO_WM_DIAGRAM_VIRTUALLY_FRAME" val="{&quot;height&quot;:122.4,&quot;left&quot;:36,&quot;top&quot;:144,&quot;width&quot;:885.6}"/>
</p:tagLst>
</file>

<file path=ppt/tags/tag27.xml><?xml version="1.0" encoding="utf-8"?>
<p:tagLst xmlns:p="http://schemas.openxmlformats.org/presentationml/2006/main">
  <p:tag name="KSO_WM_DIAGRAM_VIRTUALLY_FRAME" val="{&quot;height&quot;:122.4,&quot;left&quot;:36,&quot;top&quot;:144,&quot;width&quot;:885.6}"/>
</p:tagLst>
</file>

<file path=ppt/tags/tag28.xml><?xml version="1.0" encoding="utf-8"?>
<p:tagLst xmlns:p="http://schemas.openxmlformats.org/presentationml/2006/main">
  <p:tag name="KSO_WM_DIAGRAM_VIRTUALLY_FRAME" val="{&quot;height&quot;:122.4,&quot;left&quot;:36,&quot;top&quot;:144,&quot;width&quot;:885.6}"/>
</p:tagLst>
</file>

<file path=ppt/tags/tag29.xml><?xml version="1.0" encoding="utf-8"?>
<p:tagLst xmlns:p="http://schemas.openxmlformats.org/presentationml/2006/main">
  <p:tag name="KSO_WM_DIAGRAM_VIRTUALLY_FRAME" val="{&quot;height&quot;:122.4,&quot;left&quot;:36,&quot;top&quot;:144,&quot;width&quot;:885.6}"/>
</p:tagLst>
</file>

<file path=ppt/tags/tag30.xml><?xml version="1.0" encoding="utf-8"?>
<p:tagLst xmlns:p="http://schemas.openxmlformats.org/presentationml/2006/main">
  <p:tag name="KSO_WM_DIAGRAM_VIRTUALLY_FRAME" val="{&quot;height&quot;:122.4,&quot;left&quot;:36,&quot;top&quot;:144,&quot;width&quot;:885.6}"/>
</p:tagLst>
</file>

<file path=ppt/tags/tag31.xml><?xml version="1.0" encoding="utf-8"?>
<p:tagLst xmlns:p="http://schemas.openxmlformats.org/presentationml/2006/main">
  <p:tag name="KSO_WM_DIAGRAM_VIRTUALLY_FRAME" val="{&quot;height&quot;:122.4,&quot;left&quot;:36,&quot;top&quot;:144,&quot;width&quot;:885.6}"/>
</p:tagLst>
</file>

<file path=ppt/tags/tag32.xml><?xml version="1.0" encoding="utf-8"?>
<p:tagLst xmlns:p="http://schemas.openxmlformats.org/presentationml/2006/main">
  <p:tag name="KSO_WM_DIAGRAM_VIRTUALLY_FRAME" val="{&quot;height&quot;:122.4,&quot;left&quot;:36,&quot;top&quot;:144,&quot;width&quot;:885.6}"/>
</p:tagLst>
</file>

<file path=ppt/tags/tag33.xml><?xml version="1.0" encoding="utf-8"?>
<p:tagLst xmlns:p="http://schemas.openxmlformats.org/presentationml/2006/main">
  <p:tag name="KSO_WM_DIAGRAM_VIRTUALLY_FRAME" val="{&quot;height&quot;:122.4,&quot;left&quot;:36,&quot;top&quot;:144,&quot;width&quot;:885.6}"/>
</p:tagLst>
</file>

<file path=ppt/tags/tag34.xml><?xml version="1.0" encoding="utf-8"?>
<p:tagLst xmlns:p="http://schemas.openxmlformats.org/presentationml/2006/main">
  <p:tag name="KSO_WM_DIAGRAM_VIRTUALLY_FRAME" val="{&quot;height&quot;:122.4,&quot;left&quot;:36,&quot;top&quot;:144,&quot;width&quot;:885.6}"/>
</p:tagLst>
</file>

<file path=ppt/tags/tag35.xml><?xml version="1.0" encoding="utf-8"?>
<p:tagLst xmlns:p="http://schemas.openxmlformats.org/presentationml/2006/main">
  <p:tag name="KSO_WM_DIAGRAM_VIRTUALLY_FRAME" val="{&quot;height&quot;:122.4,&quot;left&quot;:36,&quot;top&quot;:144,&quot;width&quot;:885.6}"/>
</p:tagLst>
</file>

<file path=ppt/tags/tag36.xml><?xml version="1.0" encoding="utf-8"?>
<p:tagLst xmlns:p="http://schemas.openxmlformats.org/presentationml/2006/main">
  <p:tag name="KSO_WM_DIAGRAM_VIRTUALLY_FRAME" val="{&quot;height&quot;:122.4,&quot;left&quot;:36,&quot;top&quot;:144,&quot;width&quot;:885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13625</Words>
  <Application>WPS Presentation</Application>
  <PresentationFormat>On-screen Show (16:9)</PresentationFormat>
  <Paragraphs>516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Consolas</vt:lpstr>
      <vt:lpstr>Consolas</vt:lpstr>
      <vt:lpstr>Consolas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rajar</cp:lastModifiedBy>
  <cp:revision>21</cp:revision>
  <dcterms:created xsi:type="dcterms:W3CDTF">2026-08-22T09:31:00Z</dcterms:created>
  <dcterms:modified xsi:type="dcterms:W3CDTF">2026-08-22T12:23:53Z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D819DAA87F034F71B7C91E6B5316DFB4_12</vt:lpwstr>
  </property>
  <property fmtid="{D5CDD505-2E9C-101B-9397-08002B2CF9AE}" pid="3" name="KSOProductBuildVer">
    <vt:lpwstr>2057-12.2.0.23206</vt:lpwstr>
  </property>
</Properties>
</file>