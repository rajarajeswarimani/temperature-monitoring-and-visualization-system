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28"/>
  </p:handoutMasterIdLst>
  <p:sldIdLst>
    <p:sldId id="256" r:id="rId3"/>
    <p:sldId id="257" r:id="rId5"/>
    <p:sldId id="258" r:id="rId6"/>
    <p:sldId id="259" r:id="rId7"/>
    <p:sldId id="282" r:id="rId8"/>
    <p:sldId id="283"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handoutMaster" Target="handoutMasters/handoutMaster1.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81562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815623"/>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15440379"/>
            <a:ext cx="2971800" cy="815621"/>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15440379"/>
            <a:ext cx="2971800" cy="815621"/>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512064"/>
            <a:ext cx="12188952" cy="0"/>
          </a:xfrm>
          <a:prstGeom prst="line">
            <a:avLst/>
          </a:prstGeom>
          <a:noFill/>
          <a:ln w="12700">
            <a:solidFill>
              <a:srgbClr val="D6D9DE"/>
            </a:solidFill>
            <a:prstDash val="solid"/>
          </a:ln>
        </p:spPr>
      </p:sp>
      <p:sp>
        <p:nvSpPr>
          <p:cNvPr id="3" name="Text 1"/>
          <p:cNvSpPr/>
          <p:nvPr/>
        </p:nvSpPr>
        <p:spPr>
          <a:xfrm>
            <a:off x="365760" y="128016"/>
            <a:ext cx="10058400" cy="320040"/>
          </a:xfrm>
          <a:prstGeom prst="rect">
            <a:avLst/>
          </a:prstGeom>
          <a:noFill/>
        </p:spPr>
        <p:txBody>
          <a:bodyPr wrap="square" rtlCol="0" anchor="ctr"/>
          <a:lstStyle/>
          <a:p>
            <a:pPr marL="0" indent="0">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Temperature Monitoring &amp; Visualization System — Task Walkthrough</a:t>
            </a:r>
            <a:endParaRPr lang="en-US" sz="1100" dirty="0"/>
          </a:p>
        </p:txBody>
      </p:sp>
      <p:sp>
        <p:nvSpPr>
          <p:cNvPr id="4" name="Shape 2"/>
          <p:cNvSpPr/>
          <p:nvPr/>
        </p:nvSpPr>
        <p:spPr>
          <a:xfrm>
            <a:off x="0" y="6583680"/>
            <a:ext cx="12188952" cy="0"/>
          </a:xfrm>
          <a:prstGeom prst="line">
            <a:avLst/>
          </a:prstGeom>
          <a:noFill/>
          <a:ln w="12700">
            <a:solidFill>
              <a:srgbClr val="D6D9DE"/>
            </a:solidFill>
            <a:prstDash val="solid"/>
          </a:ln>
        </p:spPr>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0" Type="http://schemas.openxmlformats.org/officeDocument/2006/relationships/slideLayout" Target="../slideLayouts/slideLayout2.xml"/><Relationship Id="rId1" Type="http://schemas.openxmlformats.org/officeDocument/2006/relationships/tags" Target="../tags/tag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tags" Target="../tags/tag18.xml"/><Relationship Id="rId8" Type="http://schemas.openxmlformats.org/officeDocument/2006/relationships/tags" Target="../tags/tag17.xml"/><Relationship Id="rId7" Type="http://schemas.openxmlformats.org/officeDocument/2006/relationships/tags" Target="../tags/tag16.xml"/><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6" Type="http://schemas.openxmlformats.org/officeDocument/2006/relationships/notesSlide" Target="../notesSlides/notesSlide9.xml"/><Relationship Id="rId25" Type="http://schemas.openxmlformats.org/officeDocument/2006/relationships/slideLayout" Target="../slideLayouts/slideLayout2.xml"/><Relationship Id="rId24" Type="http://schemas.openxmlformats.org/officeDocument/2006/relationships/tags" Target="../tags/tag33.xml"/><Relationship Id="rId23" Type="http://schemas.openxmlformats.org/officeDocument/2006/relationships/tags" Target="../tags/tag32.xml"/><Relationship Id="rId22" Type="http://schemas.openxmlformats.org/officeDocument/2006/relationships/tags" Target="../tags/tag31.xml"/><Relationship Id="rId21" Type="http://schemas.openxmlformats.org/officeDocument/2006/relationships/tags" Target="../tags/tag30.xml"/><Relationship Id="rId20" Type="http://schemas.openxmlformats.org/officeDocument/2006/relationships/tags" Target="../tags/tag29.xml"/><Relationship Id="rId2" Type="http://schemas.openxmlformats.org/officeDocument/2006/relationships/tags" Target="../tags/tag11.xml"/><Relationship Id="rId19" Type="http://schemas.openxmlformats.org/officeDocument/2006/relationships/tags" Target="../tags/tag28.xml"/><Relationship Id="rId18" Type="http://schemas.openxmlformats.org/officeDocument/2006/relationships/tags" Target="../tags/tag27.xml"/><Relationship Id="rId17" Type="http://schemas.openxmlformats.org/officeDocument/2006/relationships/tags" Target="../tags/tag26.xml"/><Relationship Id="rId16" Type="http://schemas.openxmlformats.org/officeDocument/2006/relationships/tags" Target="../tags/tag25.xml"/><Relationship Id="rId15" Type="http://schemas.openxmlformats.org/officeDocument/2006/relationships/tags" Target="../tags/tag24.xml"/><Relationship Id="rId14" Type="http://schemas.openxmlformats.org/officeDocument/2006/relationships/tags" Target="../tags/tag23.xml"/><Relationship Id="rId13" Type="http://schemas.openxmlformats.org/officeDocument/2006/relationships/tags" Target="../tags/tag22.xml"/><Relationship Id="rId12" Type="http://schemas.openxmlformats.org/officeDocument/2006/relationships/tags" Target="../tags/tag21.xml"/><Relationship Id="rId11" Type="http://schemas.openxmlformats.org/officeDocument/2006/relationships/tags" Target="../tags/tag20.xml"/><Relationship Id="rId10" Type="http://schemas.openxmlformats.org/officeDocument/2006/relationships/tags" Target="../tags/tag19.xml"/><Relationship Id="rId1" Type="http://schemas.openxmlformats.org/officeDocument/2006/relationships/tags" Target="../tags/tag10.xml"/></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2.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2.xml"/><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4" Type="http://schemas.openxmlformats.org/officeDocument/2006/relationships/notesSlide" Target="../notesSlides/notesSlide18.xml"/><Relationship Id="rId13" Type="http://schemas.openxmlformats.org/officeDocument/2006/relationships/slideLayout" Target="../slideLayouts/slideLayout2.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hyperlink" Target="https://github.com/RajarajeswariMani/Temperature-Monitoring-and-Visualization-Syste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1783080"/>
            <a:ext cx="10515600" cy="1417320"/>
          </a:xfrm>
          <a:prstGeom prst="rect">
            <a:avLst/>
          </a:prstGeom>
          <a:noFill/>
        </p:spPr>
        <p:txBody>
          <a:bodyPr wrap="square" rtlCol="0" anchor="ctr"/>
          <a:lstStyle/>
          <a:p>
            <a:pPr marL="0" indent="0">
              <a:buNone/>
            </a:pPr>
            <a:r>
              <a:rPr lang="en-US" sz="3600" b="1" dirty="0">
                <a:solidFill>
                  <a:srgbClr val="2B2F36"/>
                </a:solidFill>
                <a:latin typeface="Arial" panose="020B0604020202020204" pitchFamily="34" charset="0"/>
                <a:ea typeface="Arial" panose="020B0604020202020204" pitchFamily="34" charset="-122"/>
                <a:cs typeface="Arial" panose="020B0604020202020204" pitchFamily="34" charset="-120"/>
              </a:rPr>
              <a:t>Temperature Monitoring &amp;</a:t>
            </a:r>
            <a:endParaRPr lang="en-US" sz="3600" dirty="0"/>
          </a:p>
          <a:p>
            <a:pPr marL="0" indent="0">
              <a:buNone/>
            </a:pPr>
            <a:r>
              <a:rPr lang="en-US" sz="3600" b="1" dirty="0">
                <a:solidFill>
                  <a:srgbClr val="2B2F36"/>
                </a:solidFill>
                <a:latin typeface="Arial" panose="020B0604020202020204" pitchFamily="34" charset="0"/>
                <a:ea typeface="Arial" panose="020B0604020202020204" pitchFamily="34" charset="-122"/>
                <a:cs typeface="Arial" panose="020B0604020202020204" pitchFamily="34" charset="-120"/>
              </a:rPr>
              <a:t>Visualization System</a:t>
            </a:r>
            <a:endParaRPr lang="en-US" sz="3600" dirty="0"/>
          </a:p>
        </p:txBody>
      </p:sp>
      <p:sp>
        <p:nvSpPr>
          <p:cNvPr id="3" name="Shape 1"/>
          <p:cNvSpPr/>
          <p:nvPr/>
        </p:nvSpPr>
        <p:spPr>
          <a:xfrm>
            <a:off x="822960" y="3154680"/>
            <a:ext cx="3840480" cy="0"/>
          </a:xfrm>
          <a:prstGeom prst="line">
            <a:avLst/>
          </a:prstGeom>
          <a:noFill/>
          <a:ln w="25400">
            <a:solidFill>
              <a:srgbClr val="44546A"/>
            </a:solidFill>
            <a:prstDash val="solid"/>
          </a:ln>
        </p:spPr>
      </p:sp>
      <p:sp>
        <p:nvSpPr>
          <p:cNvPr id="4" name="Text 2"/>
          <p:cNvSpPr/>
          <p:nvPr/>
        </p:nvSpPr>
        <p:spPr>
          <a:xfrm>
            <a:off x="822960" y="3337560"/>
            <a:ext cx="10515600" cy="917575"/>
          </a:xfrm>
          <a:prstGeom prst="rect">
            <a:avLst/>
          </a:prstGeom>
          <a:noFill/>
        </p:spPr>
        <p:txBody>
          <a:bodyPr wrap="square" rtlCol="0" anchor="ctr"/>
          <a:lstStyle/>
          <a:p>
            <a:pPr marL="0" indent="0">
              <a:buNone/>
            </a:pPr>
            <a:r>
              <a:rPr lang="en-US" altLang="en-GB" sz="1800" dirty="0">
                <a:solidFill>
                  <a:srgbClr val="6B7280"/>
                </a:solidFill>
                <a:latin typeface="Arial" panose="020B0604020202020204" pitchFamily="34" charset="0"/>
                <a:ea typeface="Arial" panose="020B0604020202020204" pitchFamily="34" charset="-122"/>
                <a:cs typeface="Arial" panose="020B0604020202020204" pitchFamily="34" charset="-120"/>
              </a:rPr>
              <a:t>Technical Task Presentation</a:t>
            </a:r>
            <a:r>
              <a:rPr lang="de-DE" altLang="en-US" sz="1800" dirty="0">
                <a:solidFill>
                  <a:srgbClr val="6B7280"/>
                </a:solidFill>
                <a:latin typeface="Calibri" panose="020F0502020204030204" charset="0"/>
                <a:ea typeface="Arial" panose="020B0604020202020204" pitchFamily="34" charset="-122"/>
                <a:cs typeface="Arial" panose="020B0604020202020204" pitchFamily="34" charset="-120"/>
              </a:rPr>
              <a:t> - </a:t>
            </a:r>
            <a:r>
              <a:rPr lang="en-US" sz="1800" dirty="0">
                <a:solidFill>
                  <a:srgbClr val="6B7280"/>
                </a:solidFill>
                <a:latin typeface="Arial" panose="020B0604020202020204" pitchFamily="34" charset="0"/>
                <a:ea typeface="Arial" panose="020B0604020202020204" pitchFamily="34" charset="-122"/>
                <a:cs typeface="Arial" panose="020B0604020202020204" pitchFamily="34" charset="-120"/>
              </a:rPr>
              <a:t>How I Approached the Task, and the Results</a:t>
            </a:r>
            <a:endParaRPr lang="en-US" sz="1800" dirty="0">
              <a:solidFill>
                <a:srgbClr val="6B7280"/>
              </a:solidFill>
              <a:latin typeface="Arial" panose="020B0604020202020204" pitchFamily="34" charset="0"/>
              <a:ea typeface="Arial" panose="020B0604020202020204" pitchFamily="34" charset="-122"/>
              <a:cs typeface="Arial" panose="020B0604020202020204" pitchFamily="34" charset="-120"/>
            </a:endParaRPr>
          </a:p>
          <a:p>
            <a:pPr marL="0" algn="l">
              <a:buClrTx/>
              <a:buSzTx/>
              <a:buFontTx/>
              <a:buNone/>
            </a:pPr>
            <a:endParaRPr lang="en-US" altLang="en-GB" sz="1800" dirty="0">
              <a:solidFill>
                <a:srgbClr val="6B7280"/>
              </a:solidFill>
              <a:latin typeface="Arial" panose="020B0604020202020204" pitchFamily="34" charset="0"/>
              <a:ea typeface="Arial" panose="020B0604020202020204" pitchFamily="34" charset="-122"/>
              <a:cs typeface="Arial" panose="020B0604020202020204" pitchFamily="34" charset="-120"/>
            </a:endParaRPr>
          </a:p>
        </p:txBody>
      </p:sp>
      <p:sp>
        <p:nvSpPr>
          <p:cNvPr id="5" name="Text 3"/>
          <p:cNvSpPr/>
          <p:nvPr/>
        </p:nvSpPr>
        <p:spPr>
          <a:xfrm>
            <a:off x="808990" y="3959225"/>
            <a:ext cx="10515600" cy="365760"/>
          </a:xfrm>
          <a:prstGeom prst="rect">
            <a:avLst/>
          </a:prstGeom>
          <a:noFill/>
        </p:spPr>
        <p:txBody>
          <a:bodyPr wrap="square" rtlCol="0" anchor="ctr"/>
          <a:lstStyle/>
          <a:p>
            <a:pPr marL="0" indent="0">
              <a:buNone/>
            </a:pPr>
            <a:r>
              <a:rPr lang="en-US" sz="1250" i="1" dirty="0">
                <a:solidFill>
                  <a:srgbClr val="6B7280"/>
                </a:solidFill>
                <a:latin typeface="Arial" panose="020B0604020202020204" pitchFamily="34" charset="0"/>
                <a:ea typeface="Arial" panose="020B0604020202020204" pitchFamily="34" charset="-122"/>
                <a:cs typeface="Arial" panose="020B0604020202020204" pitchFamily="34" charset="-120"/>
              </a:rPr>
              <a:t>Interview Walkthrough  •  </a:t>
            </a:r>
            <a:r>
              <a:rPr lang="en-US" altLang="en-GB" sz="1250" i="1" dirty="0">
                <a:solidFill>
                  <a:srgbClr val="6B7280"/>
                </a:solidFill>
                <a:latin typeface="Arial" panose="020B0604020202020204" pitchFamily="34" charset="0"/>
                <a:ea typeface="Arial" panose="020B0604020202020204" pitchFamily="34" charset="-122"/>
                <a:cs typeface="Arial" panose="020B0604020202020204" pitchFamily="34" charset="-120"/>
              </a:rPr>
              <a:t>Embedded Software Architecture</a:t>
            </a:r>
            <a:r>
              <a:rPr lang="en-US" sz="1250" i="1" dirty="0">
                <a:solidFill>
                  <a:srgbClr val="6B7280"/>
                </a:solidFill>
                <a:latin typeface="Arial" panose="020B0604020202020204" pitchFamily="34" charset="0"/>
                <a:ea typeface="Arial" panose="020B0604020202020204" pitchFamily="34" charset="-122"/>
                <a:cs typeface="Arial" panose="020B0604020202020204" pitchFamily="34" charset="-120"/>
                <a:sym typeface="+mn-ea"/>
              </a:rPr>
              <a:t> •</a:t>
            </a:r>
            <a:r>
              <a:rPr lang="de-DE" altLang="en-US" sz="1250" i="1" dirty="0">
                <a:solidFill>
                  <a:srgbClr val="6B7280"/>
                </a:solidFill>
                <a:latin typeface="Calibri" panose="020F0502020204030204" charset="0"/>
                <a:ea typeface="Arial" panose="020B0604020202020204" pitchFamily="34" charset="-122"/>
                <a:cs typeface="Arial" panose="020B0604020202020204" pitchFamily="34" charset="-120"/>
              </a:rPr>
              <a:t> </a:t>
            </a:r>
            <a:r>
              <a:rPr lang="en-US" sz="1250" i="1" dirty="0">
                <a:solidFill>
                  <a:srgbClr val="6B7280"/>
                </a:solidFill>
                <a:latin typeface="Arial" panose="020B0604020202020204" pitchFamily="34" charset="0"/>
                <a:ea typeface="Arial" panose="020B0604020202020204" pitchFamily="34" charset="-122"/>
                <a:cs typeface="Arial" panose="020B0604020202020204" pitchFamily="34" charset="-120"/>
              </a:rPr>
              <a:t>C bare-metal + C++ OOP implementations  •  GitHub repository</a:t>
            </a:r>
            <a:endParaRPr lang="en-US" sz="1250" dirty="0"/>
          </a:p>
        </p:txBody>
      </p:sp>
      <p:sp>
        <p:nvSpPr>
          <p:cNvPr id="6" name="Text 3"/>
          <p:cNvSpPr/>
          <p:nvPr/>
        </p:nvSpPr>
        <p:spPr>
          <a:xfrm>
            <a:off x="822960" y="4411980"/>
            <a:ext cx="10515600" cy="365760"/>
          </a:xfrm>
          <a:prstGeom prst="rect">
            <a:avLst/>
          </a:prstGeom>
          <a:noFill/>
        </p:spPr>
        <p:txBody>
          <a:bodyPr wrap="square" rtlCol="0" anchor="ctr"/>
          <a:lstStyle/>
          <a:p>
            <a:pPr marL="0" indent="0">
              <a:buNone/>
            </a:pPr>
            <a:r>
              <a:rPr lang="en-US" altLang="en-GB" sz="1250" i="1" dirty="0">
                <a:solidFill>
                  <a:srgbClr val="6B7280"/>
                </a:solidFill>
                <a:latin typeface="Calibri" panose="020F0502020204030204" charset="0"/>
                <a:ea typeface="Arial" panose="020B0604020202020204" pitchFamily="34" charset="-122"/>
                <a:cs typeface="Arial" panose="020B0604020202020204" pitchFamily="34" charset="-120"/>
              </a:rPr>
              <a:t>Presented by Rajarajeswari Mani</a:t>
            </a:r>
            <a:endParaRPr lang="en-US" altLang="en-GB" sz="1250" i="1" dirty="0">
              <a:solidFill>
                <a:srgbClr val="6B7280"/>
              </a:solidFill>
              <a:latin typeface="Calibri" panose="020F0502020204030204" charset="0"/>
              <a:ea typeface="Arial" panose="020B0604020202020204" pitchFamily="34" charset="-122"/>
              <a:cs typeface="Arial" panose="020B0604020202020204" pitchFamily="34" charset="-120"/>
            </a:endParaRPr>
          </a:p>
        </p:txBody>
      </p:sp>
      <p:sp>
        <p:nvSpPr>
          <p:cNvPr id="7" name="Text 2"/>
          <p:cNvSpPr/>
          <p:nvPr/>
        </p:nvSpPr>
        <p:spPr>
          <a:xfrm>
            <a:off x="853440" y="4863465"/>
            <a:ext cx="10515600" cy="457200"/>
          </a:xfrm>
          <a:prstGeom prst="rect">
            <a:avLst/>
          </a:prstGeom>
          <a:noFill/>
        </p:spPr>
        <p:txBody>
          <a:bodyPr wrap="square" rtlCol="0" anchor="ctr"/>
          <a:lstStyle/>
          <a:p>
            <a:pPr marL="0" algn="l">
              <a:buClrTx/>
              <a:buSzTx/>
              <a:buFontTx/>
              <a:buNone/>
            </a:pPr>
            <a:r>
              <a:rPr lang="en-US" altLang="en-GB" dirty="0">
                <a:solidFill>
                  <a:srgbClr val="6B7280"/>
                </a:solidFill>
                <a:latin typeface="Arial" panose="020B0604020202020204" pitchFamily="34" charset="0"/>
                <a:ea typeface="Arial" panose="020B0604020202020204" pitchFamily="34" charset="-122"/>
                <a:cs typeface="Arial" panose="020B0604020202020204" pitchFamily="34" charset="-120"/>
                <a:sym typeface="+mn-ea"/>
              </a:rPr>
              <a:t>ZEISS – Software Architect, Embedded Control Systems</a:t>
            </a:r>
            <a:endParaRPr lang="en-US" altLang="en-GB" sz="1800" dirty="0">
              <a:latin typeface="Arial" panose="020B0604020202020204" pitchFamily="34" charset="0"/>
              <a:cs typeface="Arial" panose="020B0604020202020204" pitchFamily="34" charset="0"/>
            </a:endParaRPr>
          </a:p>
        </p:txBody>
      </p:sp>
      <p:sp>
        <p:nvSpPr>
          <p:cNvPr id="10" name="Text Box 9"/>
          <p:cNvSpPr txBox="1"/>
          <p:nvPr/>
        </p:nvSpPr>
        <p:spPr>
          <a:xfrm>
            <a:off x="885190" y="5343525"/>
            <a:ext cx="4064000" cy="368300"/>
          </a:xfrm>
          <a:prstGeom prst="rect">
            <a:avLst/>
          </a:prstGeom>
          <a:noFill/>
        </p:spPr>
        <p:txBody>
          <a:bodyPr wrap="square" rtlCol="0">
            <a:spAutoFit/>
          </a:bodyPr>
          <a:p>
            <a:pPr algn="l">
              <a:buClrTx/>
              <a:buSzTx/>
              <a:buFontTx/>
            </a:pPr>
            <a:r>
              <a:rPr lang="en-US" altLang="en-GB" dirty="0">
                <a:solidFill>
                  <a:srgbClr val="6B7280"/>
                </a:solidFill>
                <a:latin typeface="Arial" panose="020B0604020202020204" pitchFamily="34" charset="0"/>
                <a:ea typeface="Arial" panose="020B0604020202020204" pitchFamily="34" charset="-122"/>
                <a:cs typeface="Arial" panose="020B0604020202020204" pitchFamily="34" charset="-120"/>
              </a:rPr>
              <a:t>Date: 24/08/2026</a:t>
            </a:r>
            <a:endParaRPr lang="en-US" altLang="en-GB" dirty="0">
              <a:solidFill>
                <a:srgbClr val="6B7280"/>
              </a:solidFill>
              <a:latin typeface="Arial" panose="020B0604020202020204" pitchFamily="34" charset="0"/>
              <a:ea typeface="Arial" panose="020B0604020202020204" pitchFamily="34" charset="-122"/>
              <a:cs typeface="Arial" panose="020B0604020202020204"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AGENDA</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What I'll Walk You Through</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737360"/>
            <a:ext cx="10972800" cy="4480560"/>
          </a:xfrm>
          <a:prstGeom prst="rect">
            <a:avLst/>
          </a:prstGeom>
          <a:noFill/>
        </p:spPr>
        <p:txBody>
          <a:bodyPr wrap="square" rtlCol="0" anchor="t"/>
          <a:lstStyle/>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What the task actually asks for, and what I need to deliver</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Requirements — System, Hardware, Temperature/LED, Software &amp; Error Handling</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My approach — the process I followed, step by step</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Architecture decisions and why I made them</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The C implementation — what it does, how it's structured</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The C++ / OOP implementation — how it differs, and why</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Testing — how I verified the requirements, and the results</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Requirements coverage recap</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GitHub repository</a:t>
            </a:r>
            <a:endParaRPr lang="en-US" sz="140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INTRO — WHAT IS THE TASK</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Task Description</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691640"/>
            <a:ext cx="5212080" cy="2926080"/>
          </a:xfrm>
          <a:prstGeom prst="rect">
            <a:avLst/>
          </a:prstGeom>
          <a:noFill/>
        </p:spPr>
        <p:txBody>
          <a:bodyPr wrap="square" rtlCol="0" anchor="t"/>
          <a:lstStyle/>
          <a:p>
            <a:pPr marL="228600" indent="-228600">
              <a:spcAft>
                <a:spcPts val="12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Architect and design software for a bare-metal embedded system used in a temperature monitoring and visualization device</a:t>
            </a:r>
            <a:endParaRPr lang="en-US" sz="1450" dirty="0"/>
          </a:p>
          <a:p>
            <a:pPr marL="228600" indent="-228600">
              <a:spcAft>
                <a:spcPts val="12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The device shows the operating condition on 3 LEDs — OK (green), Warning (yellow), Critical (red)</a:t>
            </a:r>
            <a:endParaRPr lang="en-US" sz="1450" dirty="0"/>
          </a:p>
          <a:p>
            <a:pPr marL="228600" indent="-228600">
              <a:spcAft>
                <a:spcPts val="12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A temperature sensor feeds an ADC; the microcontroller reads it, classifies it, and drives the LEDs via GPIO</a:t>
            </a:r>
            <a:endParaRPr lang="en-US" sz="1450" dirty="0"/>
          </a:p>
          <a:p>
            <a:pPr marL="228600" indent="-228600">
              <a:spcAft>
                <a:spcPts val="12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An EEPROM (I2C) holds configuration: which hardware revision is fitted, and a serial number placeholder</a:t>
            </a:r>
            <a:endParaRPr lang="en-US" sz="1450" dirty="0"/>
          </a:p>
          <a:p>
            <a:pPr marL="228600" indent="-228600">
              <a:spcAft>
                <a:spcPts val="12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This is the block diagram given in the task spec — the starting point for everything I designed:</a:t>
            </a:r>
            <a:endParaRPr lang="en-US" sz="1450" dirty="0"/>
          </a:p>
        </p:txBody>
      </p:sp>
      <p:sp>
        <p:nvSpPr>
          <p:cNvPr id="6" name="Shape 4"/>
          <p:cNvSpPr/>
          <p:nvPr/>
        </p:nvSpPr>
        <p:spPr>
          <a:xfrm>
            <a:off x="5989320" y="1691640"/>
            <a:ext cx="5669280" cy="4114800"/>
          </a:xfrm>
          <a:prstGeom prst="rect">
            <a:avLst/>
          </a:prstGeom>
          <a:solidFill>
            <a:srgbClr val="FFFFFF"/>
          </a:solidFill>
          <a:ln w="12700">
            <a:solidFill>
              <a:srgbClr val="D6D9DE"/>
            </a:solidFill>
            <a:prstDash val="solid"/>
          </a:ln>
        </p:spPr>
      </p:sp>
      <p:sp>
        <p:nvSpPr>
          <p:cNvPr id="7" name="Shape 5"/>
          <p:cNvSpPr/>
          <p:nvPr/>
        </p:nvSpPr>
        <p:spPr>
          <a:xfrm>
            <a:off x="6309360" y="2011680"/>
            <a:ext cx="1371600" cy="2651760"/>
          </a:xfrm>
          <a:prstGeom prst="rect">
            <a:avLst/>
          </a:prstGeom>
          <a:solidFill>
            <a:srgbClr val="FFFFFF"/>
          </a:solidFill>
          <a:ln w="15875">
            <a:solidFill>
              <a:srgbClr val="2B2F36"/>
            </a:solidFill>
            <a:prstDash val="solid"/>
          </a:ln>
        </p:spPr>
      </p:sp>
      <p:sp>
        <p:nvSpPr>
          <p:cNvPr id="8" name="Text 6"/>
          <p:cNvSpPr/>
          <p:nvPr/>
        </p:nvSpPr>
        <p:spPr>
          <a:xfrm>
            <a:off x="6309360" y="2057400"/>
            <a:ext cx="1371600" cy="274320"/>
          </a:xfrm>
          <a:prstGeom prst="rect">
            <a:avLst/>
          </a:prstGeom>
          <a:noFill/>
        </p:spPr>
        <p:txBody>
          <a:bodyPr wrap="square" rtlCol="0" anchor="ctr"/>
          <a:lstStyle/>
          <a:p>
            <a:pPr marL="0" indent="0" algn="ctr">
              <a:buNone/>
            </a:pPr>
            <a:r>
              <a:rPr lang="en-US" sz="1100" b="1" dirty="0">
                <a:solidFill>
                  <a:srgbClr val="2B2F36"/>
                </a:solidFill>
                <a:latin typeface="Arial" panose="020B0604020202020204" pitchFamily="34" charset="0"/>
                <a:ea typeface="Arial" panose="020B0604020202020204" pitchFamily="34" charset="-122"/>
                <a:cs typeface="Arial" panose="020B0604020202020204" pitchFamily="34" charset="-120"/>
              </a:rPr>
              <a:t>LEDs</a:t>
            </a:r>
            <a:endParaRPr lang="en-US" sz="1100" dirty="0"/>
          </a:p>
        </p:txBody>
      </p:sp>
      <p:sp>
        <p:nvSpPr>
          <p:cNvPr id="9" name="Shape 7"/>
          <p:cNvSpPr/>
          <p:nvPr/>
        </p:nvSpPr>
        <p:spPr>
          <a:xfrm>
            <a:off x="6789420" y="2468880"/>
            <a:ext cx="411480" cy="411480"/>
          </a:xfrm>
          <a:prstGeom prst="ellipse">
            <a:avLst/>
          </a:prstGeom>
          <a:solidFill>
            <a:srgbClr val="FFFFFF"/>
          </a:solidFill>
          <a:ln w="15875">
            <a:solidFill>
              <a:srgbClr val="2B2F36"/>
            </a:solidFill>
            <a:prstDash val="solid"/>
          </a:ln>
        </p:spPr>
      </p:sp>
      <p:sp>
        <p:nvSpPr>
          <p:cNvPr id="10" name="Text 8"/>
          <p:cNvSpPr/>
          <p:nvPr/>
        </p:nvSpPr>
        <p:spPr>
          <a:xfrm>
            <a:off x="6789420" y="2468880"/>
            <a:ext cx="411480" cy="411480"/>
          </a:xfrm>
          <a:prstGeom prst="rect">
            <a:avLst/>
          </a:prstGeom>
          <a:noFill/>
        </p:spPr>
        <p:txBody>
          <a:bodyPr wrap="square" rtlCol="0" anchor="ctr"/>
          <a:lstStyle/>
          <a:p>
            <a:pPr marL="0" indent="0" algn="ctr">
              <a:buNone/>
            </a:pPr>
            <a:r>
              <a:rPr lang="en-US" sz="1100" b="1" dirty="0">
                <a:solidFill>
                  <a:srgbClr val="2B2F36"/>
                </a:solidFill>
                <a:latin typeface="Arial" panose="020B0604020202020204" pitchFamily="34" charset="0"/>
                <a:ea typeface="Arial" panose="020B0604020202020204" pitchFamily="34" charset="-122"/>
                <a:cs typeface="Arial" panose="020B0604020202020204" pitchFamily="34" charset="-120"/>
              </a:rPr>
              <a:t>R</a:t>
            </a:r>
            <a:endParaRPr lang="en-US" sz="1100" dirty="0"/>
          </a:p>
        </p:txBody>
      </p:sp>
      <p:sp>
        <p:nvSpPr>
          <p:cNvPr id="11" name="Shape 9"/>
          <p:cNvSpPr/>
          <p:nvPr/>
        </p:nvSpPr>
        <p:spPr>
          <a:xfrm>
            <a:off x="6789420" y="3246120"/>
            <a:ext cx="411480" cy="411480"/>
          </a:xfrm>
          <a:prstGeom prst="ellipse">
            <a:avLst/>
          </a:prstGeom>
          <a:solidFill>
            <a:srgbClr val="FFFFFF"/>
          </a:solidFill>
          <a:ln w="15875">
            <a:solidFill>
              <a:srgbClr val="2B2F36"/>
            </a:solidFill>
            <a:prstDash val="solid"/>
          </a:ln>
        </p:spPr>
      </p:sp>
      <p:sp>
        <p:nvSpPr>
          <p:cNvPr id="12" name="Text 10"/>
          <p:cNvSpPr/>
          <p:nvPr/>
        </p:nvSpPr>
        <p:spPr>
          <a:xfrm>
            <a:off x="6789420" y="3246120"/>
            <a:ext cx="411480" cy="411480"/>
          </a:xfrm>
          <a:prstGeom prst="rect">
            <a:avLst/>
          </a:prstGeom>
          <a:noFill/>
        </p:spPr>
        <p:txBody>
          <a:bodyPr wrap="square" rtlCol="0" anchor="ctr"/>
          <a:lstStyle/>
          <a:p>
            <a:pPr marL="0" indent="0" algn="ctr">
              <a:buNone/>
            </a:pPr>
            <a:r>
              <a:rPr lang="en-US" sz="1100" b="1" dirty="0">
                <a:solidFill>
                  <a:srgbClr val="2B2F36"/>
                </a:solidFill>
                <a:latin typeface="Arial" panose="020B0604020202020204" pitchFamily="34" charset="0"/>
                <a:ea typeface="Arial" panose="020B0604020202020204" pitchFamily="34" charset="-122"/>
                <a:cs typeface="Arial" panose="020B0604020202020204" pitchFamily="34" charset="-120"/>
              </a:rPr>
              <a:t>Y</a:t>
            </a:r>
            <a:endParaRPr lang="en-US" sz="1100" dirty="0"/>
          </a:p>
        </p:txBody>
      </p:sp>
      <p:sp>
        <p:nvSpPr>
          <p:cNvPr id="13" name="Shape 11"/>
          <p:cNvSpPr/>
          <p:nvPr/>
        </p:nvSpPr>
        <p:spPr>
          <a:xfrm>
            <a:off x="6789420" y="4023360"/>
            <a:ext cx="411480" cy="411480"/>
          </a:xfrm>
          <a:prstGeom prst="ellipse">
            <a:avLst/>
          </a:prstGeom>
          <a:solidFill>
            <a:srgbClr val="FFFFFF"/>
          </a:solidFill>
          <a:ln w="15875">
            <a:solidFill>
              <a:srgbClr val="2B2F36"/>
            </a:solidFill>
            <a:prstDash val="solid"/>
          </a:ln>
        </p:spPr>
      </p:sp>
      <p:sp>
        <p:nvSpPr>
          <p:cNvPr id="14" name="Text 12"/>
          <p:cNvSpPr/>
          <p:nvPr/>
        </p:nvSpPr>
        <p:spPr>
          <a:xfrm>
            <a:off x="6789420" y="4023360"/>
            <a:ext cx="411480" cy="411480"/>
          </a:xfrm>
          <a:prstGeom prst="rect">
            <a:avLst/>
          </a:prstGeom>
          <a:noFill/>
        </p:spPr>
        <p:txBody>
          <a:bodyPr wrap="square" rtlCol="0" anchor="ctr"/>
          <a:lstStyle/>
          <a:p>
            <a:pPr marL="0" indent="0" algn="ctr">
              <a:buNone/>
            </a:pPr>
            <a:r>
              <a:rPr lang="en-US" sz="1100" b="1" dirty="0">
                <a:solidFill>
                  <a:srgbClr val="2B2F36"/>
                </a:solidFill>
                <a:latin typeface="Arial" panose="020B0604020202020204" pitchFamily="34" charset="0"/>
                <a:ea typeface="Arial" panose="020B0604020202020204" pitchFamily="34" charset="-122"/>
                <a:cs typeface="Arial" panose="020B0604020202020204" pitchFamily="34" charset="-120"/>
              </a:rPr>
              <a:t>G</a:t>
            </a:r>
            <a:endParaRPr lang="en-US" sz="1100" dirty="0"/>
          </a:p>
        </p:txBody>
      </p:sp>
      <p:sp>
        <p:nvSpPr>
          <p:cNvPr id="15" name="Shape 13"/>
          <p:cNvSpPr/>
          <p:nvPr/>
        </p:nvSpPr>
        <p:spPr>
          <a:xfrm>
            <a:off x="10104120" y="2011680"/>
            <a:ext cx="1188720" cy="502920"/>
          </a:xfrm>
          <a:prstGeom prst="rect">
            <a:avLst/>
          </a:prstGeom>
          <a:solidFill>
            <a:srgbClr val="FFFFFF"/>
          </a:solidFill>
          <a:ln w="15875">
            <a:solidFill>
              <a:srgbClr val="2B2F36"/>
            </a:solidFill>
            <a:prstDash val="solid"/>
          </a:ln>
        </p:spPr>
      </p:sp>
      <p:sp>
        <p:nvSpPr>
          <p:cNvPr id="16" name="Text 14"/>
          <p:cNvSpPr/>
          <p:nvPr/>
        </p:nvSpPr>
        <p:spPr>
          <a:xfrm>
            <a:off x="10104120" y="2011680"/>
            <a:ext cx="1188720" cy="502920"/>
          </a:xfrm>
          <a:prstGeom prst="rect">
            <a:avLst/>
          </a:prstGeom>
          <a:noFill/>
        </p:spPr>
        <p:txBody>
          <a:bodyPr wrap="square" rtlCol="0" anchor="ctr"/>
          <a:lstStyle/>
          <a:p>
            <a:pPr marL="0" indent="0" algn="ctr">
              <a:buNone/>
            </a:pPr>
            <a:r>
              <a:rPr lang="en-US" sz="1100" dirty="0">
                <a:solidFill>
                  <a:srgbClr val="2B2F36"/>
                </a:solidFill>
                <a:latin typeface="Arial" panose="020B0604020202020204" pitchFamily="34" charset="0"/>
                <a:ea typeface="Arial" panose="020B0604020202020204" pitchFamily="34" charset="-122"/>
                <a:cs typeface="Arial" panose="020B0604020202020204" pitchFamily="34" charset="-120"/>
              </a:rPr>
              <a:t>Temp</a:t>
            </a:r>
            <a:endParaRPr lang="en-US" sz="1100" dirty="0"/>
          </a:p>
        </p:txBody>
      </p:sp>
      <p:sp>
        <p:nvSpPr>
          <p:cNvPr id="17" name="Shape 15"/>
          <p:cNvSpPr/>
          <p:nvPr/>
        </p:nvSpPr>
        <p:spPr>
          <a:xfrm>
            <a:off x="9829800" y="3200400"/>
            <a:ext cx="1463040" cy="960120"/>
          </a:xfrm>
          <a:prstGeom prst="rect">
            <a:avLst/>
          </a:prstGeom>
          <a:solidFill>
            <a:srgbClr val="FFFFFF"/>
          </a:solidFill>
          <a:ln w="15875">
            <a:solidFill>
              <a:srgbClr val="2B2F36"/>
            </a:solidFill>
            <a:prstDash val="solid"/>
          </a:ln>
        </p:spPr>
      </p:sp>
      <p:sp>
        <p:nvSpPr>
          <p:cNvPr id="18" name="Text 16"/>
          <p:cNvSpPr/>
          <p:nvPr/>
        </p:nvSpPr>
        <p:spPr>
          <a:xfrm>
            <a:off x="9829800" y="3200400"/>
            <a:ext cx="1463040" cy="960120"/>
          </a:xfrm>
          <a:prstGeom prst="rect">
            <a:avLst/>
          </a:prstGeom>
          <a:noFill/>
        </p:spPr>
        <p:txBody>
          <a:bodyPr wrap="square" rtlCol="0" anchor="ctr"/>
          <a:lstStyle/>
          <a:p>
            <a:pPr marL="0" indent="0" algn="ctr">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µC</a:t>
            </a:r>
            <a:endParaRPr lang="en-US" sz="1300" dirty="0"/>
          </a:p>
        </p:txBody>
      </p:sp>
      <p:sp>
        <p:nvSpPr>
          <p:cNvPr id="19" name="Shape 17"/>
          <p:cNvSpPr/>
          <p:nvPr/>
        </p:nvSpPr>
        <p:spPr>
          <a:xfrm>
            <a:off x="9692640" y="4754880"/>
            <a:ext cx="1737360" cy="502920"/>
          </a:xfrm>
          <a:prstGeom prst="rect">
            <a:avLst/>
          </a:prstGeom>
          <a:solidFill>
            <a:srgbClr val="FFFFFF"/>
          </a:solidFill>
          <a:ln w="15875">
            <a:solidFill>
              <a:srgbClr val="2B2F36"/>
            </a:solidFill>
            <a:prstDash val="solid"/>
          </a:ln>
        </p:spPr>
      </p:sp>
      <p:sp>
        <p:nvSpPr>
          <p:cNvPr id="20" name="Text 18"/>
          <p:cNvSpPr/>
          <p:nvPr/>
        </p:nvSpPr>
        <p:spPr>
          <a:xfrm>
            <a:off x="9692640" y="4754880"/>
            <a:ext cx="1737360" cy="502920"/>
          </a:xfrm>
          <a:prstGeom prst="rect">
            <a:avLst/>
          </a:prstGeom>
          <a:noFill/>
        </p:spPr>
        <p:txBody>
          <a:bodyPr wrap="square" rtlCol="0" anchor="ctr"/>
          <a:lstStyle/>
          <a:p>
            <a:pPr marL="0" indent="0" algn="ctr">
              <a:buNone/>
            </a:pPr>
            <a:r>
              <a:rPr lang="en-US" sz="1100" dirty="0">
                <a:solidFill>
                  <a:srgbClr val="2B2F36"/>
                </a:solidFill>
                <a:latin typeface="Arial" panose="020B0604020202020204" pitchFamily="34" charset="0"/>
                <a:ea typeface="Arial" panose="020B0604020202020204" pitchFamily="34" charset="-122"/>
                <a:cs typeface="Arial" panose="020B0604020202020204" pitchFamily="34" charset="-120"/>
              </a:rPr>
              <a:t>EEPROM</a:t>
            </a:r>
            <a:endParaRPr lang="en-US" sz="1100" dirty="0"/>
          </a:p>
        </p:txBody>
      </p:sp>
      <p:sp>
        <p:nvSpPr>
          <p:cNvPr id="21" name="Shape 19"/>
          <p:cNvSpPr/>
          <p:nvPr/>
        </p:nvSpPr>
        <p:spPr>
          <a:xfrm>
            <a:off x="10698480" y="2514600"/>
            <a:ext cx="0" cy="685800"/>
          </a:xfrm>
          <a:prstGeom prst="line">
            <a:avLst/>
          </a:prstGeom>
          <a:noFill/>
          <a:ln w="15875">
            <a:solidFill>
              <a:srgbClr val="2B2F36"/>
            </a:solidFill>
            <a:prstDash val="solid"/>
            <a:tailEnd type="triangle"/>
          </a:ln>
        </p:spPr>
      </p:sp>
      <p:sp>
        <p:nvSpPr>
          <p:cNvPr id="22" name="Text 20"/>
          <p:cNvSpPr/>
          <p:nvPr/>
        </p:nvSpPr>
        <p:spPr>
          <a:xfrm>
            <a:off x="10771632" y="2560320"/>
            <a:ext cx="640080" cy="228600"/>
          </a:xfrm>
          <a:prstGeom prst="rect">
            <a:avLst/>
          </a:prstGeom>
          <a:noFill/>
        </p:spPr>
        <p:txBody>
          <a:bodyPr wrap="square" rtlCol="0" anchor="ctr"/>
          <a:lstStyle/>
          <a:p>
            <a:pPr marL="0" indent="0" algn="l">
              <a:buNone/>
            </a:pPr>
            <a:r>
              <a:rPr lang="en-US" sz="950" dirty="0">
                <a:solidFill>
                  <a:srgbClr val="6B7280"/>
                </a:solidFill>
                <a:latin typeface="Arial" panose="020B0604020202020204" pitchFamily="34" charset="0"/>
                <a:ea typeface="Arial" panose="020B0604020202020204" pitchFamily="34" charset="-122"/>
                <a:cs typeface="Arial" panose="020B0604020202020204" pitchFamily="34" charset="-120"/>
              </a:rPr>
              <a:t>ADC</a:t>
            </a:r>
            <a:endParaRPr lang="en-US" sz="950" dirty="0"/>
          </a:p>
        </p:txBody>
      </p:sp>
      <p:sp>
        <p:nvSpPr>
          <p:cNvPr id="23" name="Shape 21"/>
          <p:cNvSpPr/>
          <p:nvPr/>
        </p:nvSpPr>
        <p:spPr>
          <a:xfrm>
            <a:off x="7680960" y="3680460"/>
            <a:ext cx="2148840" cy="0"/>
          </a:xfrm>
          <a:prstGeom prst="line">
            <a:avLst/>
          </a:prstGeom>
          <a:noFill/>
          <a:ln w="15875">
            <a:solidFill>
              <a:srgbClr val="2B2F36"/>
            </a:solidFill>
            <a:prstDash val="solid"/>
            <a:tailEnd type="triangle"/>
          </a:ln>
        </p:spPr>
      </p:sp>
      <p:sp>
        <p:nvSpPr>
          <p:cNvPr id="24" name="Text 22"/>
          <p:cNvSpPr/>
          <p:nvPr/>
        </p:nvSpPr>
        <p:spPr>
          <a:xfrm>
            <a:off x="7818120" y="3360420"/>
            <a:ext cx="1097280" cy="228600"/>
          </a:xfrm>
          <a:prstGeom prst="rect">
            <a:avLst/>
          </a:prstGeom>
          <a:noFill/>
        </p:spPr>
        <p:txBody>
          <a:bodyPr wrap="square" rtlCol="0" anchor="ctr"/>
          <a:lstStyle/>
          <a:p>
            <a:pPr marL="0" indent="0" algn="l">
              <a:buNone/>
            </a:pPr>
            <a:r>
              <a:rPr lang="en-US" sz="950" dirty="0">
                <a:solidFill>
                  <a:srgbClr val="6B7280"/>
                </a:solidFill>
                <a:latin typeface="Arial" panose="020B0604020202020204" pitchFamily="34" charset="0"/>
                <a:ea typeface="Arial" panose="020B0604020202020204" pitchFamily="34" charset="-122"/>
                <a:cs typeface="Arial" panose="020B0604020202020204" pitchFamily="34" charset="-120"/>
              </a:rPr>
              <a:t>GPIOs</a:t>
            </a:r>
            <a:endParaRPr lang="en-US" sz="950" dirty="0"/>
          </a:p>
        </p:txBody>
      </p:sp>
      <p:sp>
        <p:nvSpPr>
          <p:cNvPr id="25" name="Shape 23"/>
          <p:cNvSpPr/>
          <p:nvPr/>
        </p:nvSpPr>
        <p:spPr>
          <a:xfrm>
            <a:off x="10561320" y="4160520"/>
            <a:ext cx="0" cy="594360"/>
          </a:xfrm>
          <a:prstGeom prst="line">
            <a:avLst/>
          </a:prstGeom>
          <a:noFill/>
          <a:ln w="15875">
            <a:solidFill>
              <a:srgbClr val="2B2F36"/>
            </a:solidFill>
            <a:prstDash val="solid"/>
            <a:headEnd type="triangle"/>
            <a:tailEnd type="triangle"/>
          </a:ln>
        </p:spPr>
      </p:sp>
      <p:sp>
        <p:nvSpPr>
          <p:cNvPr id="26" name="Text 24"/>
          <p:cNvSpPr/>
          <p:nvPr/>
        </p:nvSpPr>
        <p:spPr>
          <a:xfrm>
            <a:off x="10634472" y="4233672"/>
            <a:ext cx="548640" cy="228600"/>
          </a:xfrm>
          <a:prstGeom prst="rect">
            <a:avLst/>
          </a:prstGeom>
          <a:noFill/>
        </p:spPr>
        <p:txBody>
          <a:bodyPr wrap="square" rtlCol="0" anchor="ctr"/>
          <a:lstStyle/>
          <a:p>
            <a:pPr marL="0" indent="0" algn="l">
              <a:buNone/>
            </a:pPr>
            <a:r>
              <a:rPr lang="en-US" sz="950" dirty="0">
                <a:solidFill>
                  <a:srgbClr val="6B7280"/>
                </a:solidFill>
                <a:latin typeface="Arial" panose="020B0604020202020204" pitchFamily="34" charset="0"/>
                <a:ea typeface="Arial" panose="020B0604020202020204" pitchFamily="34" charset="-122"/>
                <a:cs typeface="Arial" panose="020B0604020202020204" pitchFamily="34" charset="-120"/>
              </a:rPr>
              <a:t>I2C</a:t>
            </a:r>
            <a:endParaRPr lang="en-US" sz="950" dirty="0"/>
          </a:p>
        </p:txBody>
      </p:sp>
      <p:sp>
        <p:nvSpPr>
          <p:cNvPr id="28"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
        <p:nvSpPr>
          <p:cNvPr id="36" name="Text Box 35"/>
          <p:cNvSpPr txBox="1"/>
          <p:nvPr/>
        </p:nvSpPr>
        <p:spPr>
          <a:xfrm>
            <a:off x="454025" y="234950"/>
            <a:ext cx="4064000" cy="368300"/>
          </a:xfrm>
          <a:prstGeom prst="rect">
            <a:avLst/>
          </a:prstGeom>
          <a:noFill/>
        </p:spPr>
        <p:txBody>
          <a:bodyPr wrap="square" rtlCol="0">
            <a:spAutoFit/>
          </a:bodyPr>
          <a:p>
            <a:endParaRPr lang="en-GB"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INTRO — DELIVERABLES</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What I Need to Do</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691640"/>
            <a:ext cx="11247120" cy="4297680"/>
          </a:xfrm>
          <a:prstGeom prst="rect">
            <a:avLst/>
          </a:prstGeom>
          <a:noFill/>
        </p:spPr>
        <p:txBody>
          <a:bodyPr wrap="square" rtlCol="0" anchor="t"/>
          <a:lstStyle/>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Sample temperature via ADC every 100µs, very low jitter, and drive 3 GPIO LEDs from fixed thresholds</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Support two hardware revisions with different sensor resolution, selected via EEPROM — only one active at a time</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Write the software in C for a bare-metal target, demonstrable on a PC with mocked hardware — no real hardware or emulator required</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Define ISR function(s) even though they don't need to be functional in the PC demo</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Deliver a second implementation in C++ using OOP</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Document the architecture as a diagram (.pdf / .png / .svg)</a:t>
            </a:r>
            <a:endParaRPr lang="en-US" sz="1500" dirty="0"/>
          </a:p>
          <a:p>
            <a:pPr marL="228600" indent="-228600">
              <a:spcAft>
                <a:spcPts val="11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Publish everything (code + diagrams) to a public GitHub repository, link shared ≥ 24h before this interview</a:t>
            </a:r>
            <a:endParaRPr lang="en-US" sz="150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0"/>
          <p:cNvSpPr/>
          <p:nvPr/>
        </p:nvSpPr>
        <p:spPr>
          <a:xfrm>
            <a:off x="548640" y="320040"/>
            <a:ext cx="11094415" cy="274320"/>
          </a:xfrm>
          <a:prstGeom prst="rect">
            <a:avLst/>
          </a:prstGeom>
          <a:noFill/>
        </p:spPr>
        <p:txBody>
          <a:bodyPr wrap="square" rtlCol="0" anchor="ctr"/>
          <a:lstStyle/>
          <a:p>
            <a:pPr marL="0" indent="0">
              <a:buNone/>
            </a:pPr>
            <a:endParaRPr lang="en-US" sz="1200" dirty="0"/>
          </a:p>
        </p:txBody>
      </p:sp>
      <p:sp>
        <p:nvSpPr>
          <p:cNvPr id="4" name="Text 1"/>
          <p:cNvSpPr/>
          <p:nvPr/>
        </p:nvSpPr>
        <p:spPr>
          <a:xfrm>
            <a:off x="548640" y="566928"/>
            <a:ext cx="11094415" cy="566928"/>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Engineering Approach</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5" name="Text 2"/>
          <p:cNvSpPr/>
          <p:nvPr/>
        </p:nvSpPr>
        <p:spPr>
          <a:xfrm>
            <a:off x="548640" y="1280160"/>
            <a:ext cx="5486400" cy="365760"/>
          </a:xfrm>
          <a:prstGeom prst="rect">
            <a:avLst/>
          </a:prstGeom>
          <a:noFill/>
        </p:spPr>
        <p:txBody>
          <a:bodyPr wrap="square" rtlCol="0" anchor="ctr"/>
          <a:lstStyle/>
          <a:p>
            <a:pPr marL="0" indent="0">
              <a:buNone/>
            </a:pPr>
            <a:r>
              <a:rPr lang="en-US" sz="1400" i="1" dirty="0">
                <a:solidFill>
                  <a:srgbClr val="666666"/>
                </a:solidFill>
                <a:latin typeface="Helvetica" pitchFamily="34" charset="0"/>
                <a:ea typeface="Helvetica" pitchFamily="34" charset="-122"/>
                <a:cs typeface="Helvetica" pitchFamily="34" charset="-120"/>
              </a:rPr>
              <a:t>My development flow was:</a:t>
            </a:r>
            <a:endParaRPr lang="en-US" sz="1400" dirty="0"/>
          </a:p>
        </p:txBody>
      </p:sp>
      <p:sp>
        <p:nvSpPr>
          <p:cNvPr id="6" name="Shape 3"/>
          <p:cNvSpPr/>
          <p:nvPr/>
        </p:nvSpPr>
        <p:spPr>
          <a:xfrm>
            <a:off x="548640" y="1737360"/>
            <a:ext cx="4206240" cy="384048"/>
          </a:xfrm>
          <a:prstGeom prst="roundRect">
            <a:avLst>
              <a:gd name="adj" fmla="val 11905"/>
            </a:avLst>
          </a:prstGeom>
          <a:solidFill>
            <a:srgbClr val="F2F4F7"/>
          </a:solidFill>
          <a:ln w="9525">
            <a:solidFill>
              <a:srgbClr val="CCCCCC"/>
            </a:solidFill>
            <a:prstDash val="solid"/>
          </a:ln>
        </p:spPr>
      </p:sp>
      <p:sp>
        <p:nvSpPr>
          <p:cNvPr id="7" name="Text 4"/>
          <p:cNvSpPr/>
          <p:nvPr/>
        </p:nvSpPr>
        <p:spPr>
          <a:xfrm>
            <a:off x="640080" y="1737360"/>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Requirements</a:t>
            </a:r>
            <a:endParaRPr lang="en-US" sz="1250" dirty="0"/>
          </a:p>
        </p:txBody>
      </p:sp>
      <p:sp>
        <p:nvSpPr>
          <p:cNvPr id="8" name="Text 5"/>
          <p:cNvSpPr/>
          <p:nvPr/>
        </p:nvSpPr>
        <p:spPr>
          <a:xfrm>
            <a:off x="2514600" y="2121408"/>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9" name="Shape 6"/>
          <p:cNvSpPr/>
          <p:nvPr/>
        </p:nvSpPr>
        <p:spPr>
          <a:xfrm>
            <a:off x="548640" y="2267712"/>
            <a:ext cx="4206240" cy="384048"/>
          </a:xfrm>
          <a:prstGeom prst="roundRect">
            <a:avLst>
              <a:gd name="adj" fmla="val 11905"/>
            </a:avLst>
          </a:prstGeom>
          <a:solidFill>
            <a:srgbClr val="F2F4F7"/>
          </a:solidFill>
          <a:ln w="9525">
            <a:solidFill>
              <a:srgbClr val="CCCCCC"/>
            </a:solidFill>
            <a:prstDash val="solid"/>
          </a:ln>
        </p:spPr>
      </p:sp>
      <p:sp>
        <p:nvSpPr>
          <p:cNvPr id="10" name="Text 7"/>
          <p:cNvSpPr/>
          <p:nvPr/>
        </p:nvSpPr>
        <p:spPr>
          <a:xfrm>
            <a:off x="640080" y="2267712"/>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Architecture</a:t>
            </a:r>
            <a:endParaRPr lang="en-US" sz="1250" dirty="0"/>
          </a:p>
        </p:txBody>
      </p:sp>
      <p:sp>
        <p:nvSpPr>
          <p:cNvPr id="11" name="Text 8"/>
          <p:cNvSpPr/>
          <p:nvPr/>
        </p:nvSpPr>
        <p:spPr>
          <a:xfrm>
            <a:off x="2514600" y="2651760"/>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12" name="Shape 9"/>
          <p:cNvSpPr/>
          <p:nvPr/>
        </p:nvSpPr>
        <p:spPr>
          <a:xfrm>
            <a:off x="548640" y="2798064"/>
            <a:ext cx="4206240" cy="384048"/>
          </a:xfrm>
          <a:prstGeom prst="roundRect">
            <a:avLst>
              <a:gd name="adj" fmla="val 11905"/>
            </a:avLst>
          </a:prstGeom>
          <a:solidFill>
            <a:srgbClr val="F2F4F7"/>
          </a:solidFill>
          <a:ln w="9525">
            <a:solidFill>
              <a:srgbClr val="CCCCCC"/>
            </a:solidFill>
            <a:prstDash val="solid"/>
          </a:ln>
        </p:spPr>
      </p:sp>
      <p:sp>
        <p:nvSpPr>
          <p:cNvPr id="13" name="Text 10"/>
          <p:cNvSpPr/>
          <p:nvPr/>
        </p:nvSpPr>
        <p:spPr>
          <a:xfrm>
            <a:off x="640080" y="2798064"/>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C implementation</a:t>
            </a:r>
            <a:endParaRPr lang="en-US" sz="1250" dirty="0"/>
          </a:p>
        </p:txBody>
      </p:sp>
      <p:sp>
        <p:nvSpPr>
          <p:cNvPr id="14" name="Text 11"/>
          <p:cNvSpPr/>
          <p:nvPr/>
        </p:nvSpPr>
        <p:spPr>
          <a:xfrm>
            <a:off x="2514600" y="3182112"/>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15" name="Shape 12"/>
          <p:cNvSpPr/>
          <p:nvPr/>
        </p:nvSpPr>
        <p:spPr>
          <a:xfrm>
            <a:off x="548640" y="3328416"/>
            <a:ext cx="4206240" cy="384048"/>
          </a:xfrm>
          <a:prstGeom prst="roundRect">
            <a:avLst>
              <a:gd name="adj" fmla="val 11905"/>
            </a:avLst>
          </a:prstGeom>
          <a:solidFill>
            <a:srgbClr val="F2F4F7"/>
          </a:solidFill>
          <a:ln w="9525">
            <a:solidFill>
              <a:srgbClr val="CCCCCC"/>
            </a:solidFill>
            <a:prstDash val="solid"/>
          </a:ln>
        </p:spPr>
      </p:sp>
      <p:sp>
        <p:nvSpPr>
          <p:cNvPr id="16" name="Text 13"/>
          <p:cNvSpPr/>
          <p:nvPr/>
        </p:nvSpPr>
        <p:spPr>
          <a:xfrm>
            <a:off x="640080" y="3328416"/>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C++ re-architecture</a:t>
            </a:r>
            <a:endParaRPr lang="en-US" sz="1250" dirty="0"/>
          </a:p>
        </p:txBody>
      </p:sp>
      <p:sp>
        <p:nvSpPr>
          <p:cNvPr id="17" name="Text 14"/>
          <p:cNvSpPr/>
          <p:nvPr/>
        </p:nvSpPr>
        <p:spPr>
          <a:xfrm>
            <a:off x="2514600" y="3712464"/>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18" name="Shape 15"/>
          <p:cNvSpPr/>
          <p:nvPr/>
        </p:nvSpPr>
        <p:spPr>
          <a:xfrm>
            <a:off x="548640" y="3858768"/>
            <a:ext cx="4206240" cy="384048"/>
          </a:xfrm>
          <a:prstGeom prst="roundRect">
            <a:avLst>
              <a:gd name="adj" fmla="val 11905"/>
            </a:avLst>
          </a:prstGeom>
          <a:solidFill>
            <a:srgbClr val="F2F4F7"/>
          </a:solidFill>
          <a:ln w="9525">
            <a:solidFill>
              <a:srgbClr val="CCCCCC"/>
            </a:solidFill>
            <a:prstDash val="solid"/>
          </a:ln>
        </p:spPr>
      </p:sp>
      <p:sp>
        <p:nvSpPr>
          <p:cNvPr id="19" name="Text 16"/>
          <p:cNvSpPr/>
          <p:nvPr/>
        </p:nvSpPr>
        <p:spPr>
          <a:xfrm>
            <a:off x="640080" y="3858768"/>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Mocks + PC demonstration</a:t>
            </a:r>
            <a:endParaRPr lang="en-US" sz="1250" dirty="0"/>
          </a:p>
        </p:txBody>
      </p:sp>
      <p:sp>
        <p:nvSpPr>
          <p:cNvPr id="20" name="Text 17"/>
          <p:cNvSpPr/>
          <p:nvPr/>
        </p:nvSpPr>
        <p:spPr>
          <a:xfrm>
            <a:off x="2514600" y="4242816"/>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21" name="Shape 18"/>
          <p:cNvSpPr/>
          <p:nvPr/>
        </p:nvSpPr>
        <p:spPr>
          <a:xfrm>
            <a:off x="548640" y="4389120"/>
            <a:ext cx="4206240" cy="384048"/>
          </a:xfrm>
          <a:prstGeom prst="roundRect">
            <a:avLst>
              <a:gd name="adj" fmla="val 11905"/>
            </a:avLst>
          </a:prstGeom>
          <a:solidFill>
            <a:srgbClr val="F2F4F7"/>
          </a:solidFill>
          <a:ln w="9525">
            <a:solidFill>
              <a:srgbClr val="CCCCCC"/>
            </a:solidFill>
            <a:prstDash val="solid"/>
          </a:ln>
        </p:spPr>
      </p:sp>
      <p:sp>
        <p:nvSpPr>
          <p:cNvPr id="22" name="Text 19"/>
          <p:cNvSpPr/>
          <p:nvPr/>
        </p:nvSpPr>
        <p:spPr>
          <a:xfrm>
            <a:off x="640080" y="4389120"/>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Automated tests</a:t>
            </a:r>
            <a:endParaRPr lang="en-US" sz="1250" dirty="0"/>
          </a:p>
        </p:txBody>
      </p:sp>
      <p:sp>
        <p:nvSpPr>
          <p:cNvPr id="23" name="Text 20"/>
          <p:cNvSpPr/>
          <p:nvPr/>
        </p:nvSpPr>
        <p:spPr>
          <a:xfrm>
            <a:off x="2514600" y="4773168"/>
            <a:ext cx="274320" cy="146304"/>
          </a:xfrm>
          <a:prstGeom prst="rect">
            <a:avLst/>
          </a:prstGeom>
          <a:noFill/>
        </p:spPr>
        <p:txBody>
          <a:bodyPr wrap="square" rtlCol="0" anchor="ctr"/>
          <a:lstStyle/>
          <a:p>
            <a:pPr marL="0" indent="0" algn="ctr">
              <a:buNone/>
            </a:pPr>
            <a:r>
              <a:rPr lang="en-US" sz="1300" b="1" dirty="0">
                <a:solidFill>
                  <a:srgbClr val="355070"/>
                </a:solidFill>
              </a:rPr>
              <a:t>↓</a:t>
            </a:r>
            <a:endParaRPr lang="en-US" sz="1300" dirty="0"/>
          </a:p>
        </p:txBody>
      </p:sp>
      <p:sp>
        <p:nvSpPr>
          <p:cNvPr id="24" name="Shape 21"/>
          <p:cNvSpPr/>
          <p:nvPr/>
        </p:nvSpPr>
        <p:spPr>
          <a:xfrm>
            <a:off x="548640" y="4919472"/>
            <a:ext cx="4206240" cy="384048"/>
          </a:xfrm>
          <a:prstGeom prst="roundRect">
            <a:avLst>
              <a:gd name="adj" fmla="val 11905"/>
            </a:avLst>
          </a:prstGeom>
          <a:solidFill>
            <a:srgbClr val="F2F4F7"/>
          </a:solidFill>
          <a:ln w="9525">
            <a:solidFill>
              <a:srgbClr val="CCCCCC"/>
            </a:solidFill>
            <a:prstDash val="solid"/>
          </a:ln>
        </p:spPr>
      </p:sp>
      <p:sp>
        <p:nvSpPr>
          <p:cNvPr id="25" name="Text 22"/>
          <p:cNvSpPr/>
          <p:nvPr/>
        </p:nvSpPr>
        <p:spPr>
          <a:xfrm>
            <a:off x="640080" y="4919472"/>
            <a:ext cx="4023360" cy="384048"/>
          </a:xfrm>
          <a:prstGeom prst="rect">
            <a:avLst/>
          </a:prstGeom>
          <a:noFill/>
        </p:spPr>
        <p:txBody>
          <a:bodyPr wrap="square" rtlCol="0" anchor="ctr"/>
          <a:lstStyle/>
          <a:p>
            <a:pPr marL="0" indent="0" algn="ctr">
              <a:buNone/>
            </a:pPr>
            <a:r>
              <a:rPr lang="en-US" sz="1250" b="1" dirty="0">
                <a:solidFill>
                  <a:srgbClr val="1A2332"/>
                </a:solidFill>
                <a:latin typeface="Helvetica" pitchFamily="34" charset="0"/>
                <a:ea typeface="Helvetica" pitchFamily="34" charset="-122"/>
                <a:cs typeface="Helvetica" pitchFamily="34" charset="-120"/>
              </a:rPr>
              <a:t>Traceability + documentation</a:t>
            </a:r>
            <a:endParaRPr lang="en-US" sz="1250" dirty="0"/>
          </a:p>
        </p:txBody>
      </p:sp>
      <p:sp>
        <p:nvSpPr>
          <p:cNvPr id="26" name="Shape 23"/>
          <p:cNvSpPr/>
          <p:nvPr/>
        </p:nvSpPr>
        <p:spPr>
          <a:xfrm>
            <a:off x="5394960" y="1737360"/>
            <a:ext cx="6245352" cy="4480560"/>
          </a:xfrm>
          <a:prstGeom prst="roundRect">
            <a:avLst>
              <a:gd name="adj" fmla="val 1633"/>
            </a:avLst>
          </a:prstGeom>
          <a:solidFill>
            <a:srgbClr val="F2F4F7"/>
          </a:solidFill>
          <a:ln w="12700">
            <a:solidFill>
              <a:srgbClr val="F2F4F7"/>
            </a:solidFill>
            <a:prstDash val="solid"/>
          </a:ln>
        </p:spPr>
      </p:sp>
      <p:sp>
        <p:nvSpPr>
          <p:cNvPr id="27" name="Text 24"/>
          <p:cNvSpPr/>
          <p:nvPr/>
        </p:nvSpPr>
        <p:spPr>
          <a:xfrm>
            <a:off x="5669280" y="1965960"/>
            <a:ext cx="5669280" cy="457200"/>
          </a:xfrm>
          <a:prstGeom prst="rect">
            <a:avLst/>
          </a:prstGeom>
          <a:noFill/>
        </p:spPr>
        <p:txBody>
          <a:bodyPr wrap="square" rtlCol="0" anchor="ctr"/>
          <a:lstStyle/>
          <a:p>
            <a:pPr marL="0" indent="0">
              <a:buNone/>
            </a:pPr>
            <a:r>
              <a:rPr lang="en-US" sz="1500" b="1" dirty="0">
                <a:solidFill>
                  <a:srgbClr val="355070"/>
                </a:solidFill>
                <a:latin typeface="Helvetica" pitchFamily="34" charset="0"/>
                <a:ea typeface="Helvetica" pitchFamily="34" charset="-122"/>
                <a:cs typeface="Helvetica" pitchFamily="34" charset="-120"/>
              </a:rPr>
              <a:t>Why architecture before implementation</a:t>
            </a:r>
            <a:endParaRPr lang="en-US" sz="1500" dirty="0"/>
          </a:p>
        </p:txBody>
      </p:sp>
      <p:sp>
        <p:nvSpPr>
          <p:cNvPr id="28" name="Text 25"/>
          <p:cNvSpPr/>
          <p:nvPr/>
        </p:nvSpPr>
        <p:spPr>
          <a:xfrm>
            <a:off x="5669280" y="2514600"/>
            <a:ext cx="5669280" cy="3383280"/>
          </a:xfrm>
          <a:prstGeom prst="rect">
            <a:avLst/>
          </a:prstGeom>
          <a:noFill/>
        </p:spPr>
        <p:txBody>
          <a:bodyPr wrap="square" rtlCol="0" anchor="t"/>
          <a:lstStyle/>
          <a:p>
            <a:pPr marL="0" indent="0">
              <a:lnSpc>
                <a:spcPct val="130000"/>
              </a:lnSpc>
              <a:buNone/>
            </a:pPr>
            <a:r>
              <a:rPr lang="en-US" sz="1350" dirty="0">
                <a:solidFill>
                  <a:srgbClr val="333333"/>
                </a:solidFill>
                <a:latin typeface="Helvetica" pitchFamily="34" charset="0"/>
                <a:ea typeface="Helvetica" pitchFamily="34" charset="-122"/>
                <a:cs typeface="Helvetica" pitchFamily="34" charset="-120"/>
              </a:rPr>
              <a:t>I designed the architecture before implementing the application logic so that each major requirement had an identifiable software component and verification activity. That ordering is what makes the requirements traceability chain (Section 17) possible — every requirement maps to a named block, and every block maps to a test.</a:t>
            </a:r>
            <a:endParaRPr lang="en-US" sz="1350" dirty="0"/>
          </a:p>
        </p:txBody>
      </p:sp>
      <p:sp>
        <p:nvSpPr>
          <p:cNvPr id="29" name="Text 26"/>
          <p:cNvSpPr/>
          <p:nvPr/>
        </p:nvSpPr>
        <p:spPr>
          <a:xfrm>
            <a:off x="548640" y="6473952"/>
            <a:ext cx="8229600" cy="274320"/>
          </a:xfrm>
          <a:prstGeom prst="rect">
            <a:avLst/>
          </a:prstGeom>
          <a:noFill/>
        </p:spPr>
        <p:txBody>
          <a:bodyPr wrap="square" rtlCol="0" anchor="ctr"/>
          <a:lstStyle/>
          <a:p>
            <a:pPr marL="0" indent="0">
              <a:buNone/>
            </a:pPr>
            <a:endParaRPr lang="en-US" sz="900" dirty="0"/>
          </a:p>
        </p:txBody>
      </p:sp>
      <p:sp>
        <p:nvSpPr>
          <p:cNvPr id="30" name="Text 27"/>
          <p:cNvSpPr/>
          <p:nvPr/>
        </p:nvSpPr>
        <p:spPr>
          <a:xfrm>
            <a:off x="11185855" y="6473952"/>
            <a:ext cx="457200" cy="274320"/>
          </a:xfrm>
          <a:prstGeom prst="rect">
            <a:avLst/>
          </a:prstGeom>
          <a:noFill/>
        </p:spPr>
        <p:txBody>
          <a:bodyPr wrap="square" rtlCol="0" anchor="ctr"/>
          <a:lstStyle/>
          <a:p>
            <a:pPr marL="0" indent="0" algn="r">
              <a:buNone/>
            </a:pPr>
            <a:r>
              <a:rPr lang="de-DE" altLang="en-US" sz="900" dirty="0">
                <a:solidFill>
                  <a:srgbClr val="666666"/>
                </a:solidFill>
                <a:latin typeface="Calibri" panose="020F0502020204030204" charset="0"/>
                <a:ea typeface="Helvetica" pitchFamily="34" charset="-122"/>
                <a:cs typeface="Helvetica" pitchFamily="34" charset="-120"/>
              </a:rPr>
              <a:t>5</a:t>
            </a:r>
            <a:endParaRPr lang="de-DE" altLang="en-US" sz="900" dirty="0">
              <a:solidFill>
                <a:srgbClr val="666666"/>
              </a:solidFill>
              <a:latin typeface="Calibri" panose="020F0502020204030204" charset="0"/>
              <a:ea typeface="Helvetica" pitchFamily="34" charset="-122"/>
              <a:cs typeface="Helvetica" pitchFamily="34" charset="-12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0"/>
          <p:cNvSpPr/>
          <p:nvPr/>
        </p:nvSpPr>
        <p:spPr>
          <a:xfrm>
            <a:off x="548640" y="320040"/>
            <a:ext cx="11094415" cy="274320"/>
          </a:xfrm>
          <a:prstGeom prst="rect">
            <a:avLst/>
          </a:prstGeom>
          <a:noFill/>
        </p:spPr>
        <p:txBody>
          <a:bodyPr wrap="square" rtlCol="0" anchor="ctr"/>
          <a:lstStyle/>
          <a:p>
            <a:pPr marL="0" indent="0">
              <a:buNone/>
            </a:pPr>
            <a:endParaRPr lang="en-US" sz="1200" dirty="0"/>
          </a:p>
        </p:txBody>
      </p:sp>
      <p:sp>
        <p:nvSpPr>
          <p:cNvPr id="3" name="Text 1"/>
          <p:cNvSpPr/>
          <p:nvPr/>
        </p:nvSpPr>
        <p:spPr>
          <a:xfrm>
            <a:off x="548640" y="566928"/>
            <a:ext cx="11094415" cy="566928"/>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Requirements — My Starting Point</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Text 2"/>
          <p:cNvSpPr/>
          <p:nvPr/>
        </p:nvSpPr>
        <p:spPr>
          <a:xfrm>
            <a:off x="548640" y="1280160"/>
            <a:ext cx="11094415" cy="365760"/>
          </a:xfrm>
          <a:prstGeom prst="rect">
            <a:avLst/>
          </a:prstGeom>
          <a:noFill/>
        </p:spPr>
        <p:txBody>
          <a:bodyPr wrap="square" rtlCol="0" anchor="ctr"/>
          <a:lstStyle/>
          <a:p>
            <a:pPr marL="0" indent="0">
              <a:buNone/>
            </a:pPr>
            <a:r>
              <a:rPr lang="en-US" sz="1400" i="1" dirty="0">
                <a:solidFill>
                  <a:srgbClr val="666666"/>
                </a:solidFill>
                <a:latin typeface="Helvetica" pitchFamily="34" charset="0"/>
                <a:ea typeface="Helvetica" pitchFamily="34" charset="-122"/>
                <a:cs typeface="Helvetica" pitchFamily="34" charset="-120"/>
              </a:rPr>
              <a:t>I converted the task specification into explicit, traceable requirements.</a:t>
            </a:r>
            <a:endParaRPr lang="en-US" sz="1400" dirty="0"/>
          </a:p>
        </p:txBody>
      </p:sp>
      <p:sp>
        <p:nvSpPr>
          <p:cNvPr id="5" name="Shape 3"/>
          <p:cNvSpPr/>
          <p:nvPr>
            <p:custDataLst>
              <p:tags r:id="rId1"/>
            </p:custDataLst>
          </p:nvPr>
        </p:nvSpPr>
        <p:spPr>
          <a:xfrm>
            <a:off x="548640" y="1828800"/>
            <a:ext cx="3515258" cy="4206240"/>
          </a:xfrm>
          <a:prstGeom prst="roundRect">
            <a:avLst>
              <a:gd name="adj" fmla="val 2081"/>
            </a:avLst>
          </a:prstGeom>
          <a:solidFill>
            <a:srgbClr val="F2F4F7"/>
          </a:solidFill>
          <a:ln w="12700">
            <a:solidFill>
              <a:srgbClr val="F2F4F7"/>
            </a:solidFill>
            <a:prstDash val="solid"/>
          </a:ln>
        </p:spPr>
      </p:sp>
      <p:sp>
        <p:nvSpPr>
          <p:cNvPr id="6" name="Text 4"/>
          <p:cNvSpPr/>
          <p:nvPr>
            <p:custDataLst>
              <p:tags r:id="rId2"/>
            </p:custDataLst>
          </p:nvPr>
        </p:nvSpPr>
        <p:spPr>
          <a:xfrm>
            <a:off x="777240" y="2057400"/>
            <a:ext cx="3058058" cy="411480"/>
          </a:xfrm>
          <a:prstGeom prst="rect">
            <a:avLst/>
          </a:prstGeom>
          <a:noFill/>
        </p:spPr>
        <p:txBody>
          <a:bodyPr wrap="square" rtlCol="0" anchor="ctr"/>
          <a:lstStyle/>
          <a:p>
            <a:pPr marL="0" indent="0">
              <a:buNone/>
            </a:pPr>
            <a:r>
              <a:rPr lang="en-US" sz="1600" b="1" dirty="0">
                <a:solidFill>
                  <a:srgbClr val="355070"/>
                </a:solidFill>
                <a:latin typeface="Helvetica" pitchFamily="34" charset="0"/>
                <a:ea typeface="Helvetica" pitchFamily="34" charset="-122"/>
                <a:cs typeface="Helvetica" pitchFamily="34" charset="-120"/>
              </a:rPr>
              <a:t>System</a:t>
            </a:r>
            <a:endParaRPr lang="en-US" sz="1600" dirty="0"/>
          </a:p>
        </p:txBody>
      </p:sp>
      <p:sp>
        <p:nvSpPr>
          <p:cNvPr id="7" name="Text 5"/>
          <p:cNvSpPr/>
          <p:nvPr>
            <p:custDataLst>
              <p:tags r:id="rId3"/>
            </p:custDataLst>
          </p:nvPr>
        </p:nvSpPr>
        <p:spPr>
          <a:xfrm>
            <a:off x="777240" y="2560320"/>
            <a:ext cx="3058058" cy="3291840"/>
          </a:xfrm>
          <a:prstGeom prst="rect">
            <a:avLst/>
          </a:prstGeom>
          <a:noFill/>
        </p:spPr>
        <p:txBody>
          <a:bodyPr wrap="square" rtlCol="0" anchor="t"/>
          <a:lstStyle/>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Temperature monitoring and 3-LED visualization</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PC demonstration with mocked hardware</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C and C++ implementations</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Architecture documentation and public repository</a:t>
            </a:r>
            <a:endParaRPr lang="en-US" sz="1200" dirty="0"/>
          </a:p>
        </p:txBody>
      </p:sp>
      <p:sp>
        <p:nvSpPr>
          <p:cNvPr id="8" name="Shape 6"/>
          <p:cNvSpPr/>
          <p:nvPr>
            <p:custDataLst>
              <p:tags r:id="rId4"/>
            </p:custDataLst>
          </p:nvPr>
        </p:nvSpPr>
        <p:spPr>
          <a:xfrm>
            <a:off x="4338218" y="1828800"/>
            <a:ext cx="3515258" cy="4206240"/>
          </a:xfrm>
          <a:prstGeom prst="roundRect">
            <a:avLst>
              <a:gd name="adj" fmla="val 2081"/>
            </a:avLst>
          </a:prstGeom>
          <a:solidFill>
            <a:srgbClr val="F2F4F7"/>
          </a:solidFill>
          <a:ln w="12700">
            <a:solidFill>
              <a:srgbClr val="F2F4F7"/>
            </a:solidFill>
            <a:prstDash val="solid"/>
          </a:ln>
        </p:spPr>
      </p:sp>
      <p:sp>
        <p:nvSpPr>
          <p:cNvPr id="9" name="Text 7"/>
          <p:cNvSpPr/>
          <p:nvPr>
            <p:custDataLst>
              <p:tags r:id="rId5"/>
            </p:custDataLst>
          </p:nvPr>
        </p:nvSpPr>
        <p:spPr>
          <a:xfrm>
            <a:off x="4566818" y="2057400"/>
            <a:ext cx="3058058" cy="411480"/>
          </a:xfrm>
          <a:prstGeom prst="rect">
            <a:avLst/>
          </a:prstGeom>
          <a:noFill/>
        </p:spPr>
        <p:txBody>
          <a:bodyPr wrap="square" rtlCol="0" anchor="ctr"/>
          <a:lstStyle/>
          <a:p>
            <a:pPr marL="0" indent="0">
              <a:buNone/>
            </a:pPr>
            <a:r>
              <a:rPr lang="en-US" sz="1600" b="1" dirty="0">
                <a:solidFill>
                  <a:srgbClr val="355070"/>
                </a:solidFill>
                <a:latin typeface="Helvetica" pitchFamily="34" charset="0"/>
                <a:ea typeface="Helvetica" pitchFamily="34" charset="-122"/>
                <a:cs typeface="Helvetica" pitchFamily="34" charset="-120"/>
              </a:rPr>
              <a:t>Hardware</a:t>
            </a:r>
            <a:endParaRPr lang="en-US" sz="1600" dirty="0"/>
          </a:p>
        </p:txBody>
      </p:sp>
      <p:sp>
        <p:nvSpPr>
          <p:cNvPr id="10" name="Text 8"/>
          <p:cNvSpPr/>
          <p:nvPr>
            <p:custDataLst>
              <p:tags r:id="rId6"/>
            </p:custDataLst>
          </p:nvPr>
        </p:nvSpPr>
        <p:spPr>
          <a:xfrm>
            <a:off x="4566818" y="2560320"/>
            <a:ext cx="3058058" cy="3291840"/>
          </a:xfrm>
          <a:prstGeom prst="rect">
            <a:avLst/>
          </a:prstGeom>
          <a:noFill/>
        </p:spPr>
        <p:txBody>
          <a:bodyPr wrap="square" rtlCol="0" anchor="t"/>
          <a:lstStyle/>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ADC, GPIO, timer and I2C EEPROM</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Rev-A = 1°C/digit</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Rev-B = 0.1°C/digit</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Only the fitted sensor type is active</a:t>
            </a:r>
            <a:endParaRPr lang="en-US" sz="1200" dirty="0"/>
          </a:p>
        </p:txBody>
      </p:sp>
      <p:sp>
        <p:nvSpPr>
          <p:cNvPr id="11" name="Shape 9"/>
          <p:cNvSpPr/>
          <p:nvPr>
            <p:custDataLst>
              <p:tags r:id="rId7"/>
            </p:custDataLst>
          </p:nvPr>
        </p:nvSpPr>
        <p:spPr>
          <a:xfrm>
            <a:off x="8127797" y="1828800"/>
            <a:ext cx="3515258" cy="4206240"/>
          </a:xfrm>
          <a:prstGeom prst="roundRect">
            <a:avLst>
              <a:gd name="adj" fmla="val 2081"/>
            </a:avLst>
          </a:prstGeom>
          <a:solidFill>
            <a:srgbClr val="F2F4F7"/>
          </a:solidFill>
          <a:ln w="12700">
            <a:solidFill>
              <a:srgbClr val="F2F4F7"/>
            </a:solidFill>
            <a:prstDash val="solid"/>
          </a:ln>
        </p:spPr>
      </p:sp>
      <p:sp>
        <p:nvSpPr>
          <p:cNvPr id="12" name="Text 10"/>
          <p:cNvSpPr/>
          <p:nvPr>
            <p:custDataLst>
              <p:tags r:id="rId8"/>
            </p:custDataLst>
          </p:nvPr>
        </p:nvSpPr>
        <p:spPr>
          <a:xfrm>
            <a:off x="8356397" y="2057400"/>
            <a:ext cx="3058058" cy="411480"/>
          </a:xfrm>
          <a:prstGeom prst="rect">
            <a:avLst/>
          </a:prstGeom>
          <a:noFill/>
        </p:spPr>
        <p:txBody>
          <a:bodyPr wrap="square" rtlCol="0" anchor="ctr"/>
          <a:lstStyle/>
          <a:p>
            <a:pPr marL="0" indent="0">
              <a:buNone/>
            </a:pPr>
            <a:r>
              <a:rPr lang="en-US" sz="1600" b="1" dirty="0">
                <a:solidFill>
                  <a:srgbClr val="355070"/>
                </a:solidFill>
                <a:latin typeface="Helvetica" pitchFamily="34" charset="0"/>
                <a:ea typeface="Helvetica" pitchFamily="34" charset="-122"/>
                <a:cs typeface="Helvetica" pitchFamily="34" charset="-120"/>
              </a:rPr>
              <a:t>Software</a:t>
            </a:r>
            <a:endParaRPr lang="en-US" sz="1600" dirty="0"/>
          </a:p>
        </p:txBody>
      </p:sp>
      <p:sp>
        <p:nvSpPr>
          <p:cNvPr id="13" name="Text 11"/>
          <p:cNvSpPr/>
          <p:nvPr>
            <p:custDataLst>
              <p:tags r:id="rId9"/>
            </p:custDataLst>
          </p:nvPr>
        </p:nvSpPr>
        <p:spPr>
          <a:xfrm>
            <a:off x="8356397" y="2560320"/>
            <a:ext cx="3058058" cy="3291840"/>
          </a:xfrm>
          <a:prstGeom prst="rect">
            <a:avLst/>
          </a:prstGeom>
          <a:noFill/>
        </p:spPr>
        <p:txBody>
          <a:bodyPr wrap="square" rtlCol="0" anchor="t"/>
          <a:lstStyle/>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100µs sampling</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Minimal ISR</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Conversion, classification and LED control outside the ISR</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EEPROM configuration</a:t>
            </a:r>
            <a:endParaRPr lang="en-US" sz="1200" dirty="0"/>
          </a:p>
          <a:p>
            <a:pPr marL="342900" indent="-342900">
              <a:lnSpc>
                <a:spcPct val="120000"/>
              </a:lnSpc>
              <a:spcAft>
                <a:spcPts val="1000"/>
              </a:spcAft>
              <a:buSzPct val="100000"/>
              <a:buChar char="•"/>
            </a:pPr>
            <a:r>
              <a:rPr lang="en-US" sz="1200" dirty="0">
                <a:solidFill>
                  <a:srgbClr val="333333"/>
                </a:solidFill>
                <a:latin typeface="Helvetica" pitchFamily="34" charset="0"/>
                <a:ea typeface="Helvetica" pitchFamily="34" charset="-122"/>
                <a:cs typeface="Helvetica" pitchFamily="34" charset="-120"/>
              </a:rPr>
              <a:t>Hardware abstraction and PC mocks</a:t>
            </a:r>
            <a:endParaRPr lang="en-US" sz="1200" dirty="0"/>
          </a:p>
        </p:txBody>
      </p:sp>
      <p:sp>
        <p:nvSpPr>
          <p:cNvPr id="15" name="Text 13"/>
          <p:cNvSpPr/>
          <p:nvPr/>
        </p:nvSpPr>
        <p:spPr>
          <a:xfrm>
            <a:off x="11185855" y="6473952"/>
            <a:ext cx="457200" cy="274320"/>
          </a:xfrm>
          <a:prstGeom prst="rect">
            <a:avLst/>
          </a:prstGeom>
          <a:noFill/>
        </p:spPr>
        <p:txBody>
          <a:bodyPr wrap="square" rtlCol="0" anchor="ctr"/>
          <a:lstStyle/>
          <a:p>
            <a:pPr marL="0" indent="0" algn="r">
              <a:buNone/>
            </a:pPr>
            <a:r>
              <a:rPr lang="de-DE" altLang="en-US" sz="900" dirty="0">
                <a:solidFill>
                  <a:srgbClr val="666666"/>
                </a:solidFill>
                <a:latin typeface="Calibri" panose="020F0502020204030204" charset="0"/>
                <a:ea typeface="Helvetica" pitchFamily="34" charset="-122"/>
                <a:cs typeface="Helvetica" pitchFamily="34" charset="-120"/>
              </a:rPr>
              <a:t>6</a:t>
            </a:r>
            <a:endParaRPr lang="de-DE" altLang="en-US" sz="900" dirty="0">
              <a:solidFill>
                <a:srgbClr val="666666"/>
              </a:solidFill>
              <a:latin typeface="Calibri" panose="020F0502020204030204" charset="0"/>
              <a:ea typeface="Helvetica" pitchFamily="34" charset="-122"/>
              <a:cs typeface="Helvetica" pitchFamily="34" charset="-12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REQUIREMENTS 1/4</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System Requirements</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Shape 2"/>
          <p:cNvSpPr/>
          <p:nvPr/>
        </p:nvSpPr>
        <p:spPr>
          <a:xfrm>
            <a:off x="365760" y="1444752"/>
            <a:ext cx="11430000" cy="0"/>
          </a:xfrm>
          <a:prstGeom prst="line">
            <a:avLst/>
          </a:prstGeom>
          <a:noFill/>
          <a:ln w="12700">
            <a:solidFill>
              <a:srgbClr val="D6D9DE"/>
            </a:solidFill>
            <a:prstDash val="solid"/>
          </a:ln>
        </p:spPr>
      </p:sp>
      <p:graphicFrame>
        <p:nvGraphicFramePr>
          <p:cNvPr id="6" name="Table 0"/>
          <p:cNvGraphicFramePr>
            <a:graphicFrameLocks noGrp="1"/>
          </p:cNvGraphicFramePr>
          <p:nvPr/>
        </p:nvGraphicFramePr>
        <p:xfrm>
          <a:off x="365760" y="1627632"/>
          <a:ext cx="11430000" cy="914400"/>
        </p:xfrm>
        <a:graphic>
          <a:graphicData uri="http://schemas.openxmlformats.org/drawingml/2006/table">
            <a:tbl>
              <a:tblPr/>
              <a:tblGrid>
                <a:gridCol w="1463040"/>
                <a:gridCol w="9966960"/>
              </a:tblGrid>
              <a:tr h="0">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ID</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Requirement</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SYS-1</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Monitor temperature and visualize status via 3 LEDs (OK / Warning / Critical).</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SYS-2</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Architecture documented as a diagram in .pdf / .png / .svg.</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SYS-3</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Demonstrable on a PC using mocked HW interfaces — no target hardware or emulator required.</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SYS-4</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Two implementations: C (procedural/bare-metal) and C++ (OOP).</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SYS-5</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Project + diagrams published to a public GitHub repository, link shared ≥24h before the interview.</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bl>
          </a:graphicData>
        </a:graphic>
      </p:graphicFrame>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REQUIREMENTS 2/4</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Hardware Requirements</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graphicFrame>
        <p:nvGraphicFramePr>
          <p:cNvPr id="7" name="Table 0"/>
          <p:cNvGraphicFramePr>
            <a:graphicFrameLocks noGrp="1"/>
          </p:cNvGraphicFramePr>
          <p:nvPr/>
        </p:nvGraphicFramePr>
        <p:xfrm>
          <a:off x="365760" y="1627632"/>
          <a:ext cx="11430000" cy="914400"/>
        </p:xfrm>
        <a:graphic>
          <a:graphicData uri="http://schemas.openxmlformats.org/drawingml/2006/table">
            <a:tbl>
              <a:tblPr/>
              <a:tblGrid>
                <a:gridCol w="1463040"/>
                <a:gridCol w="9966960"/>
              </a:tblGrid>
              <a:tr h="0">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ID</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Requirement</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HW-1</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Temperature sensor connected to the MCU via an ADC channel.</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HW-2</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Three LEDs (Green/Yellow/Red) connected via GPIO pins.</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HW-3</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EEPROM provides hardware revision + serial number; mocked for the PC demo.</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HW-4</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Two hardware revisions supported: Rev-A = 1 °C/digit, Rev-B = 0.1 °C/digit. Only one active at a time.</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HW-5</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Timer peripheral generating a periodic interrupt at 100µs to drive sampling.</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bl>
          </a:graphicData>
        </a:graphic>
      </p:graphicFrame>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REQUIREMENTS 3/4</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Temperature Conversion &amp; LED Requirements</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graphicFrame>
        <p:nvGraphicFramePr>
          <p:cNvPr id="8" name="Table 0"/>
          <p:cNvGraphicFramePr>
            <a:graphicFrameLocks noGrp="1"/>
          </p:cNvGraphicFramePr>
          <p:nvPr/>
        </p:nvGraphicFramePr>
        <p:xfrm>
          <a:off x="365760" y="1627632"/>
          <a:ext cx="11430000" cy="1424940"/>
        </p:xfrm>
        <a:graphic>
          <a:graphicData uri="http://schemas.openxmlformats.org/drawingml/2006/table">
            <a:tbl>
              <a:tblPr/>
              <a:tblGrid>
                <a:gridCol w="2122170"/>
                <a:gridCol w="9307830"/>
              </a:tblGrid>
              <a:tr h="0">
                <a:tc>
                  <a:txBody>
                    <a:bodyPr/>
                    <a:lstStyle/>
                    <a:p>
                      <a:pPr marL="0" indent="0">
                        <a:buNone/>
                      </a:pPr>
                      <a:r>
                        <a:rPr lang="en-US" sz="1450" b="1" dirty="0">
                          <a:solidFill>
                            <a:srgbClr val="FFFFFF"/>
                          </a:solidFill>
                          <a:latin typeface="Arial" panose="020B0604020202020204" pitchFamily="34" charset="0"/>
                          <a:ea typeface="Arial" panose="020B0604020202020204" pitchFamily="34" charset="-122"/>
                          <a:cs typeface="Arial" panose="020B0604020202020204" pitchFamily="34" charset="-120"/>
                        </a:rPr>
                        <a:t>ID</a:t>
                      </a:r>
                      <a:endParaRPr lang="en-US" sz="14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c>
                  <a:txBody>
                    <a:bodyPr/>
                    <a:lstStyle/>
                    <a:p>
                      <a:pPr marL="0" indent="0">
                        <a:buNone/>
                      </a:pPr>
                      <a:r>
                        <a:rPr lang="en-US" sz="1450" b="1" dirty="0">
                          <a:solidFill>
                            <a:srgbClr val="FFFFFF"/>
                          </a:solidFill>
                          <a:latin typeface="Arial" panose="020B0604020202020204" pitchFamily="34" charset="0"/>
                          <a:ea typeface="Arial" panose="020B0604020202020204" pitchFamily="34" charset="-122"/>
                          <a:cs typeface="Arial" panose="020B0604020202020204" pitchFamily="34" charset="-120"/>
                        </a:rPr>
                        <a:t>Requirement</a:t>
                      </a:r>
                      <a:endParaRPr lang="en-US" sz="14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r>
              <a:tr h="0">
                <a:tc>
                  <a:txBody>
                    <a:bodyPr/>
                    <a:lstStyle/>
                    <a:p>
                      <a:pPr marL="0" indent="0">
                        <a:buNone/>
                      </a:pPr>
                      <a:r>
                        <a:rPr lang="en-US" sz="1350" b="1" dirty="0">
                          <a:solidFill>
                            <a:srgbClr val="2B2F36"/>
                          </a:solidFill>
                          <a:latin typeface="Arial" panose="020B0604020202020204" pitchFamily="34" charset="0"/>
                          <a:ea typeface="Arial" panose="020B0604020202020204" pitchFamily="34" charset="-122"/>
                          <a:cs typeface="Arial" panose="020B0604020202020204" pitchFamily="34" charset="-120"/>
                        </a:rPr>
                        <a:t>TEMP-1 / TEMP-2</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Rev-A: raw = °C directly. Rev-B: raw at 0.1°C resolution (raw 100 = 10°C).</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50" b="1" dirty="0">
                          <a:solidFill>
                            <a:srgbClr val="2B2F36"/>
                          </a:solidFill>
                          <a:latin typeface="Arial" panose="020B0604020202020204" pitchFamily="34" charset="0"/>
                          <a:ea typeface="Arial" panose="020B0604020202020204" pitchFamily="34" charset="-122"/>
                          <a:cs typeface="Arial" panose="020B0604020202020204" pitchFamily="34" charset="-120"/>
                        </a:rPr>
                        <a:t>TEMP-3 / TEMP-4</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Conversion uses the EEPROM-configured revision; an invalid revision is rejected.</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50" b="1" dirty="0">
                          <a:solidFill>
                            <a:srgbClr val="2B2F36"/>
                          </a:solidFill>
                          <a:latin typeface="Arial" panose="020B0604020202020204" pitchFamily="34" charset="0"/>
                          <a:ea typeface="Arial" panose="020B0604020202020204" pitchFamily="34" charset="-122"/>
                          <a:cs typeface="Arial" panose="020B0604020202020204" pitchFamily="34" charset="-120"/>
                        </a:rPr>
                        <a:t>LED-1 / LED-2 / LED-3</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Green: 5°C≤T&lt;85°C. Yellow: 85°C≤T&lt;105°C. Red: T≥105°C or T&lt;5°C.</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50" b="1" dirty="0">
                          <a:solidFill>
                            <a:srgbClr val="2B2F36"/>
                          </a:solidFill>
                          <a:latin typeface="Arial" panose="020B0604020202020204" pitchFamily="34" charset="0"/>
                          <a:ea typeface="Arial" panose="020B0604020202020204" pitchFamily="34" charset="-122"/>
                          <a:cs typeface="Arial" panose="020B0604020202020204" pitchFamily="34" charset="-120"/>
                        </a:rPr>
                        <a:t>LED-4 / LED-5</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Exactly one LED lit at a time; all three boundaries handled explicitly.</a:t>
                      </a:r>
                      <a:endParaRPr lang="en-US" sz="135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REQUIREMENTS 4/4</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Software &amp; Error Handling Requirements</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Shape 2"/>
          <p:cNvSpPr/>
          <p:nvPr/>
        </p:nvSpPr>
        <p:spPr>
          <a:xfrm>
            <a:off x="365760" y="1444752"/>
            <a:ext cx="11430000" cy="0"/>
          </a:xfrm>
          <a:prstGeom prst="line">
            <a:avLst/>
          </a:prstGeom>
          <a:noFill/>
          <a:ln w="12700">
            <a:solidFill>
              <a:srgbClr val="D6D9DE"/>
            </a:solidFill>
            <a:prstDash val="solid"/>
          </a:ln>
        </p:spPr>
      </p:sp>
      <p:graphicFrame>
        <p:nvGraphicFramePr>
          <p:cNvPr id="9" name="Table 0"/>
          <p:cNvGraphicFramePr>
            <a:graphicFrameLocks noGrp="1"/>
          </p:cNvGraphicFramePr>
          <p:nvPr/>
        </p:nvGraphicFramePr>
        <p:xfrm>
          <a:off x="365760" y="1627632"/>
          <a:ext cx="11430000" cy="1661160"/>
        </p:xfrm>
        <a:graphic>
          <a:graphicData uri="http://schemas.openxmlformats.org/drawingml/2006/table">
            <a:tbl>
              <a:tblPr/>
              <a:tblGrid>
                <a:gridCol w="2192655"/>
                <a:gridCol w="9237345"/>
              </a:tblGrid>
              <a:tr h="0">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ID</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c>
                  <a:txBody>
                    <a:bodyPr/>
                    <a:lstStyle/>
                    <a:p>
                      <a:pPr marL="0" indent="0">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Requirement</a:t>
                      </a:r>
                      <a:endParaRPr lang="en-US" sz="14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SW-1 / SW-2</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Sample every 100µs, very low jitter; ISR does minimal deterministic work only (read, latch, flag).</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SW-3 / SW-4</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Convert raw→°C per hardware revision; read revision + serial from EEPROM at startup.</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SW-5</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ISR function(s) defined/implemented, even if not wired to a real interrupt in the PC demo.</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SW-6 / SW-7 / SW-8</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C bare-metal + C++ OOP, both with mocked ADC/GPIO/EEPROM interfaces for the PC demo.</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300" b="1" dirty="0">
                          <a:solidFill>
                            <a:srgbClr val="2B2F36"/>
                          </a:solidFill>
                          <a:latin typeface="Arial" panose="020B0604020202020204" pitchFamily="34" charset="0"/>
                          <a:ea typeface="Arial" panose="020B0604020202020204" pitchFamily="34" charset="-122"/>
                          <a:cs typeface="Arial" panose="020B0604020202020204" pitchFamily="34" charset="-120"/>
                        </a:rPr>
                        <a:t>ERR-1 / ERR-2 / ERR-3</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c>
                  <a:txBody>
                    <a:bodyPr/>
                    <a:lstStyle/>
                    <a:p>
                      <a:pPr marL="0" indent="0">
                        <a:buNone/>
                      </a:pPr>
                      <a:r>
                        <a:rPr lang="en-US" sz="1300" dirty="0">
                          <a:solidFill>
                            <a:srgbClr val="2B2F36"/>
                          </a:solidFill>
                          <a:latin typeface="Arial" panose="020B0604020202020204" pitchFamily="34" charset="0"/>
                          <a:ea typeface="Arial" panose="020B0604020202020204" pitchFamily="34" charset="-122"/>
                          <a:cs typeface="Arial" panose="020B0604020202020204" pitchFamily="34" charset="-120"/>
                        </a:rPr>
                        <a:t>Invalid hardware revision and NULL sensor pointer rejected; no silent fallback to a wrong resolution.</a:t>
                      </a:r>
                      <a:endParaRPr lang="en-US" sz="1300" dirty="0">
                        <a:latin typeface="Arial" panose="020B0604020202020204" pitchFamily="34" charset="0"/>
                        <a:ea typeface="Arial" panose="020B0604020202020204" pitchFamily="34" charset="0"/>
                        <a:cs typeface="Arial" panose="020B0604020202020204" pitchFamily="34" charset="0"/>
                      </a:endParaRPr>
                    </a:p>
                  </a:txBody>
                  <a:tcPr marL="63500" marR="63500" marT="38100" marB="381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5F6F7"/>
                    </a:solidFill>
                  </a:tcPr>
                </a:tc>
              </a:tr>
            </a:tbl>
          </a:graphicData>
        </a:graphic>
      </p:graphicFrame>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PROCESS</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My Approach</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custDataLst>
              <p:tags r:id="rId1"/>
            </p:custDataLst>
          </p:nvPr>
        </p:nvSpPr>
        <p:spPr>
          <a:xfrm>
            <a:off x="457200" y="1691640"/>
            <a:ext cx="384048" cy="384048"/>
          </a:xfrm>
          <a:prstGeom prst="ellipse">
            <a:avLst/>
          </a:prstGeom>
          <a:solidFill>
            <a:srgbClr val="2B3648"/>
          </a:solidFill>
        </p:spPr>
      </p:sp>
      <p:sp>
        <p:nvSpPr>
          <p:cNvPr id="6" name="Text 4"/>
          <p:cNvSpPr/>
          <p:nvPr>
            <p:custDataLst>
              <p:tags r:id="rId2"/>
            </p:custDataLst>
          </p:nvPr>
        </p:nvSpPr>
        <p:spPr>
          <a:xfrm>
            <a:off x="457200" y="1691640"/>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500" dirty="0"/>
          </a:p>
        </p:txBody>
      </p:sp>
      <p:sp>
        <p:nvSpPr>
          <p:cNvPr id="7" name="Text 5"/>
          <p:cNvSpPr/>
          <p:nvPr>
            <p:custDataLst>
              <p:tags r:id="rId3"/>
            </p:custDataLst>
          </p:nvPr>
        </p:nvSpPr>
        <p:spPr>
          <a:xfrm>
            <a:off x="1005840" y="1664208"/>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Read the spec closely, extracted requirements</a:t>
            </a:r>
            <a:endParaRPr lang="en-US" sz="1450" dirty="0"/>
          </a:p>
        </p:txBody>
      </p:sp>
      <p:sp>
        <p:nvSpPr>
          <p:cNvPr id="8" name="Text 6"/>
          <p:cNvSpPr/>
          <p:nvPr>
            <p:custDataLst>
              <p:tags r:id="rId4"/>
            </p:custDataLst>
          </p:nvPr>
        </p:nvSpPr>
        <p:spPr>
          <a:xfrm>
            <a:off x="1005840" y="1947672"/>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Split into System / Hardware / Software requirements, each given an ID (SYS-x, HW-x, SW-x) — just covered — so every line in the task PDF traces to something concrete.</a:t>
            </a:r>
            <a:endParaRPr lang="en-US" sz="1150" dirty="0"/>
          </a:p>
        </p:txBody>
      </p:sp>
      <p:sp>
        <p:nvSpPr>
          <p:cNvPr id="9" name="Shape 7"/>
          <p:cNvSpPr/>
          <p:nvPr>
            <p:custDataLst>
              <p:tags r:id="rId5"/>
            </p:custDataLst>
          </p:nvPr>
        </p:nvSpPr>
        <p:spPr>
          <a:xfrm>
            <a:off x="457200" y="2441448"/>
            <a:ext cx="384048" cy="384048"/>
          </a:xfrm>
          <a:prstGeom prst="ellipse">
            <a:avLst/>
          </a:prstGeom>
          <a:solidFill>
            <a:srgbClr val="2B3648"/>
          </a:solidFill>
        </p:spPr>
      </p:sp>
      <p:sp>
        <p:nvSpPr>
          <p:cNvPr id="10" name="Text 8"/>
          <p:cNvSpPr/>
          <p:nvPr>
            <p:custDataLst>
              <p:tags r:id="rId6"/>
            </p:custDataLst>
          </p:nvPr>
        </p:nvSpPr>
        <p:spPr>
          <a:xfrm>
            <a:off x="457200" y="2441448"/>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500" dirty="0"/>
          </a:p>
        </p:txBody>
      </p:sp>
      <p:sp>
        <p:nvSpPr>
          <p:cNvPr id="11" name="Text 9"/>
          <p:cNvSpPr/>
          <p:nvPr>
            <p:custDataLst>
              <p:tags r:id="rId7"/>
            </p:custDataLst>
          </p:nvPr>
        </p:nvSpPr>
        <p:spPr>
          <a:xfrm>
            <a:off x="1005840" y="2414016"/>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Designed the architecture before writing code</a:t>
            </a:r>
            <a:endParaRPr lang="en-US" sz="1450" dirty="0"/>
          </a:p>
        </p:txBody>
      </p:sp>
      <p:sp>
        <p:nvSpPr>
          <p:cNvPr id="12" name="Text 10"/>
          <p:cNvSpPr/>
          <p:nvPr>
            <p:custDataLst>
              <p:tags r:id="rId8"/>
            </p:custDataLst>
          </p:nvPr>
        </p:nvSpPr>
        <p:spPr>
          <a:xfrm>
            <a:off x="1005840" y="2697480"/>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System static view, hardware static view, software static view (class diagram), software dynamic view (sequence diagram) — drawn in Mermaid</a:t>
            </a:r>
            <a:endParaRPr lang="en-US" sz="1150" dirty="0"/>
          </a:p>
        </p:txBody>
      </p:sp>
      <p:sp>
        <p:nvSpPr>
          <p:cNvPr id="13" name="Shape 11"/>
          <p:cNvSpPr/>
          <p:nvPr>
            <p:custDataLst>
              <p:tags r:id="rId9"/>
            </p:custDataLst>
          </p:nvPr>
        </p:nvSpPr>
        <p:spPr>
          <a:xfrm>
            <a:off x="457200" y="3191256"/>
            <a:ext cx="384048" cy="384048"/>
          </a:xfrm>
          <a:prstGeom prst="ellipse">
            <a:avLst/>
          </a:prstGeom>
          <a:solidFill>
            <a:srgbClr val="2B3648"/>
          </a:solidFill>
        </p:spPr>
      </p:sp>
      <p:sp>
        <p:nvSpPr>
          <p:cNvPr id="14" name="Text 12"/>
          <p:cNvSpPr/>
          <p:nvPr>
            <p:custDataLst>
              <p:tags r:id="rId10"/>
            </p:custDataLst>
          </p:nvPr>
        </p:nvSpPr>
        <p:spPr>
          <a:xfrm>
            <a:off x="457200" y="3191256"/>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500" dirty="0"/>
          </a:p>
        </p:txBody>
      </p:sp>
      <p:sp>
        <p:nvSpPr>
          <p:cNvPr id="15" name="Text 13"/>
          <p:cNvSpPr/>
          <p:nvPr>
            <p:custDataLst>
              <p:tags r:id="rId11"/>
            </p:custDataLst>
          </p:nvPr>
        </p:nvSpPr>
        <p:spPr>
          <a:xfrm>
            <a:off x="1005840" y="3163824"/>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Built the C implementation first</a:t>
            </a:r>
            <a:endParaRPr lang="en-US" sz="1450" dirty="0"/>
          </a:p>
        </p:txBody>
      </p:sp>
      <p:sp>
        <p:nvSpPr>
          <p:cNvPr id="16" name="Text 14"/>
          <p:cNvSpPr/>
          <p:nvPr>
            <p:custDataLst>
              <p:tags r:id="rId12"/>
            </p:custDataLst>
          </p:nvPr>
        </p:nvSpPr>
        <p:spPr>
          <a:xfrm>
            <a:off x="1005840" y="3447288"/>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Plain procedural C: HAL layer (ADC/GPIO/EEPROM), sensor driver, classifier, LED controller, minimal-work ISR, mocked hardware for PC demo.</a:t>
            </a:r>
            <a:endParaRPr lang="en-US" sz="1150" dirty="0"/>
          </a:p>
        </p:txBody>
      </p:sp>
      <p:sp>
        <p:nvSpPr>
          <p:cNvPr id="17" name="Shape 15"/>
          <p:cNvSpPr/>
          <p:nvPr>
            <p:custDataLst>
              <p:tags r:id="rId13"/>
            </p:custDataLst>
          </p:nvPr>
        </p:nvSpPr>
        <p:spPr>
          <a:xfrm>
            <a:off x="457200" y="3941064"/>
            <a:ext cx="384048" cy="384048"/>
          </a:xfrm>
          <a:prstGeom prst="ellipse">
            <a:avLst/>
          </a:prstGeom>
          <a:solidFill>
            <a:srgbClr val="2B3648"/>
          </a:solidFill>
        </p:spPr>
      </p:sp>
      <p:sp>
        <p:nvSpPr>
          <p:cNvPr id="18" name="Text 16"/>
          <p:cNvSpPr/>
          <p:nvPr>
            <p:custDataLst>
              <p:tags r:id="rId14"/>
            </p:custDataLst>
          </p:nvPr>
        </p:nvSpPr>
        <p:spPr>
          <a:xfrm>
            <a:off x="457200" y="3941064"/>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500" dirty="0"/>
          </a:p>
        </p:txBody>
      </p:sp>
      <p:sp>
        <p:nvSpPr>
          <p:cNvPr id="19" name="Text 17"/>
          <p:cNvSpPr/>
          <p:nvPr>
            <p:custDataLst>
              <p:tags r:id="rId15"/>
            </p:custDataLst>
          </p:nvPr>
        </p:nvSpPr>
        <p:spPr>
          <a:xfrm>
            <a:off x="1005840" y="3913632"/>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Re-architected the same behavior in C++ (OOP)</a:t>
            </a:r>
            <a:endParaRPr lang="en-US" sz="1450" dirty="0"/>
          </a:p>
        </p:txBody>
      </p:sp>
      <p:sp>
        <p:nvSpPr>
          <p:cNvPr id="20" name="Text 18"/>
          <p:cNvSpPr/>
          <p:nvPr>
            <p:custDataLst>
              <p:tags r:id="rId16"/>
            </p:custDataLst>
          </p:nvPr>
        </p:nvSpPr>
        <p:spPr>
          <a:xfrm>
            <a:off x="1005840" y="4197096"/>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Interfaces + dependency injection for hardware abstraction, Strategy pattern for the Rev-A/Rev-B resolution difference, one orchestrator class.</a:t>
            </a:r>
            <a:endParaRPr lang="en-US" sz="1150" dirty="0"/>
          </a:p>
        </p:txBody>
      </p:sp>
      <p:sp>
        <p:nvSpPr>
          <p:cNvPr id="21" name="Shape 19"/>
          <p:cNvSpPr/>
          <p:nvPr>
            <p:custDataLst>
              <p:tags r:id="rId17"/>
            </p:custDataLst>
          </p:nvPr>
        </p:nvSpPr>
        <p:spPr>
          <a:xfrm>
            <a:off x="457200" y="4690872"/>
            <a:ext cx="384048" cy="384048"/>
          </a:xfrm>
          <a:prstGeom prst="ellipse">
            <a:avLst/>
          </a:prstGeom>
          <a:solidFill>
            <a:srgbClr val="2B3648"/>
          </a:solidFill>
        </p:spPr>
      </p:sp>
      <p:sp>
        <p:nvSpPr>
          <p:cNvPr id="22" name="Text 20"/>
          <p:cNvSpPr/>
          <p:nvPr>
            <p:custDataLst>
              <p:tags r:id="rId18"/>
            </p:custDataLst>
          </p:nvPr>
        </p:nvSpPr>
        <p:spPr>
          <a:xfrm>
            <a:off x="457200" y="4690872"/>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500" dirty="0"/>
          </a:p>
        </p:txBody>
      </p:sp>
      <p:sp>
        <p:nvSpPr>
          <p:cNvPr id="23" name="Text 21"/>
          <p:cNvSpPr/>
          <p:nvPr>
            <p:custDataLst>
              <p:tags r:id="rId19"/>
            </p:custDataLst>
          </p:nvPr>
        </p:nvSpPr>
        <p:spPr>
          <a:xfrm>
            <a:off x="1005840" y="4663440"/>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Wrote automated tests for both, tied to requirements</a:t>
            </a:r>
            <a:endParaRPr lang="en-US" sz="1450" dirty="0"/>
          </a:p>
        </p:txBody>
      </p:sp>
      <p:sp>
        <p:nvSpPr>
          <p:cNvPr id="24" name="Text 22"/>
          <p:cNvSpPr/>
          <p:nvPr>
            <p:custDataLst>
              <p:tags r:id="rId20"/>
            </p:custDataLst>
          </p:nvPr>
        </p:nvSpPr>
        <p:spPr>
          <a:xfrm>
            <a:off x="1005840" y="4946904"/>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Each test case maps to a specific requirement ID — boundary conditions, revision selection, EEPROM round-trip, ISR presence.</a:t>
            </a:r>
            <a:endParaRPr lang="en-US" sz="1150" dirty="0"/>
          </a:p>
        </p:txBody>
      </p:sp>
      <p:sp>
        <p:nvSpPr>
          <p:cNvPr id="25" name="Shape 23"/>
          <p:cNvSpPr/>
          <p:nvPr>
            <p:custDataLst>
              <p:tags r:id="rId21"/>
            </p:custDataLst>
          </p:nvPr>
        </p:nvSpPr>
        <p:spPr>
          <a:xfrm>
            <a:off x="457200" y="5440680"/>
            <a:ext cx="384048" cy="384048"/>
          </a:xfrm>
          <a:prstGeom prst="ellipse">
            <a:avLst/>
          </a:prstGeom>
          <a:solidFill>
            <a:srgbClr val="2B3648"/>
          </a:solidFill>
        </p:spPr>
      </p:sp>
      <p:sp>
        <p:nvSpPr>
          <p:cNvPr id="26" name="Text 24"/>
          <p:cNvSpPr/>
          <p:nvPr>
            <p:custDataLst>
              <p:tags r:id="rId22"/>
            </p:custDataLst>
          </p:nvPr>
        </p:nvSpPr>
        <p:spPr>
          <a:xfrm>
            <a:off x="457200" y="5440680"/>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6</a:t>
            </a:r>
            <a:endParaRPr lang="en-US" sz="1500" dirty="0"/>
          </a:p>
        </p:txBody>
      </p:sp>
      <p:sp>
        <p:nvSpPr>
          <p:cNvPr id="27" name="Text 25"/>
          <p:cNvSpPr/>
          <p:nvPr>
            <p:custDataLst>
              <p:tags r:id="rId23"/>
            </p:custDataLst>
          </p:nvPr>
        </p:nvSpPr>
        <p:spPr>
          <a:xfrm>
            <a:off x="1005840" y="5413248"/>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Documented and packaged for review</a:t>
            </a:r>
            <a:endParaRPr lang="en-US" sz="1450" dirty="0"/>
          </a:p>
        </p:txBody>
      </p:sp>
      <p:sp>
        <p:nvSpPr>
          <p:cNvPr id="28" name="Text 26"/>
          <p:cNvSpPr/>
          <p:nvPr>
            <p:custDataLst>
              <p:tags r:id="rId24"/>
            </p:custDataLst>
          </p:nvPr>
        </p:nvSpPr>
        <p:spPr>
          <a:xfrm>
            <a:off x="1005840" y="5696712"/>
            <a:ext cx="10698480" cy="47548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This presentation, README with build instructions, requirements &amp; test-plan docs, all pushed to a public GitHub repo.</a:t>
            </a:r>
            <a:endParaRPr lang="en-US" sz="1150" dirty="0"/>
          </a:p>
        </p:txBody>
      </p:sp>
      <p:sp>
        <p:nvSpPr>
          <p:cNvPr id="29"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DESIGN 1/2</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Architecture, At a Glance — System &amp; Hardware</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nvSpPr>
        <p:spPr>
          <a:xfrm>
            <a:off x="608076" y="1691640"/>
            <a:ext cx="3566160" cy="4023360"/>
          </a:xfrm>
          <a:prstGeom prst="rect">
            <a:avLst/>
          </a:prstGeom>
          <a:solidFill>
            <a:srgbClr val="FAFBFC"/>
          </a:solidFill>
          <a:ln w="12700">
            <a:solidFill>
              <a:srgbClr val="D6D9DE"/>
            </a:solidFill>
            <a:prstDash val="solid"/>
          </a:ln>
        </p:spPr>
      </p:sp>
      <p:pic>
        <p:nvPicPr>
          <p:cNvPr id="6" name="Image 0" descr="00_Overall_architecture.png"/>
          <p:cNvPicPr>
            <a:picLocks noChangeAspect="1"/>
          </p:cNvPicPr>
          <p:nvPr/>
        </p:nvPicPr>
        <p:blipFill>
          <a:blip r:embed="rId1"/>
          <a:stretch>
            <a:fillRect/>
          </a:stretch>
        </p:blipFill>
        <p:spPr>
          <a:xfrm>
            <a:off x="699516" y="1801368"/>
            <a:ext cx="3383280" cy="1183170"/>
          </a:xfrm>
          <a:prstGeom prst="rect">
            <a:avLst/>
          </a:prstGeom>
        </p:spPr>
      </p:pic>
      <p:sp>
        <p:nvSpPr>
          <p:cNvPr id="7" name="Text 4"/>
          <p:cNvSpPr/>
          <p:nvPr/>
        </p:nvSpPr>
        <p:spPr>
          <a:xfrm>
            <a:off x="608076" y="5349240"/>
            <a:ext cx="356616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Overall architecture</a:t>
            </a:r>
            <a:endParaRPr lang="en-US" sz="1100" dirty="0"/>
          </a:p>
        </p:txBody>
      </p:sp>
      <p:sp>
        <p:nvSpPr>
          <p:cNvPr id="8" name="Shape 5"/>
          <p:cNvSpPr/>
          <p:nvPr/>
        </p:nvSpPr>
        <p:spPr>
          <a:xfrm>
            <a:off x="4311396" y="1691640"/>
            <a:ext cx="3566160" cy="4023360"/>
          </a:xfrm>
          <a:prstGeom prst="rect">
            <a:avLst/>
          </a:prstGeom>
          <a:solidFill>
            <a:srgbClr val="FAFBFC"/>
          </a:solidFill>
          <a:ln w="12700">
            <a:solidFill>
              <a:srgbClr val="D6D9DE"/>
            </a:solidFill>
            <a:prstDash val="solid"/>
          </a:ln>
        </p:spPr>
      </p:sp>
      <p:pic>
        <p:nvPicPr>
          <p:cNvPr id="9" name="Image 1" descr="01_system_static_architecture.png"/>
          <p:cNvPicPr>
            <a:picLocks noChangeAspect="1"/>
          </p:cNvPicPr>
          <p:nvPr/>
        </p:nvPicPr>
        <p:blipFill>
          <a:blip r:embed="rId2"/>
          <a:stretch>
            <a:fillRect/>
          </a:stretch>
        </p:blipFill>
        <p:spPr>
          <a:xfrm>
            <a:off x="4402836" y="1801368"/>
            <a:ext cx="3383280" cy="2781917"/>
          </a:xfrm>
          <a:prstGeom prst="rect">
            <a:avLst/>
          </a:prstGeom>
        </p:spPr>
      </p:pic>
      <p:sp>
        <p:nvSpPr>
          <p:cNvPr id="10" name="Text 6"/>
          <p:cNvSpPr/>
          <p:nvPr/>
        </p:nvSpPr>
        <p:spPr>
          <a:xfrm>
            <a:off x="4311396" y="5349240"/>
            <a:ext cx="356616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System static</a:t>
            </a:r>
            <a:endParaRPr lang="en-US" sz="1100" dirty="0"/>
          </a:p>
        </p:txBody>
      </p:sp>
      <p:sp>
        <p:nvSpPr>
          <p:cNvPr id="11" name="Shape 7"/>
          <p:cNvSpPr/>
          <p:nvPr/>
        </p:nvSpPr>
        <p:spPr>
          <a:xfrm>
            <a:off x="8014716" y="1691640"/>
            <a:ext cx="3566160" cy="4023360"/>
          </a:xfrm>
          <a:prstGeom prst="rect">
            <a:avLst/>
          </a:prstGeom>
          <a:solidFill>
            <a:srgbClr val="FAFBFC"/>
          </a:solidFill>
          <a:ln w="12700">
            <a:solidFill>
              <a:srgbClr val="D6D9DE"/>
            </a:solidFill>
            <a:prstDash val="solid"/>
          </a:ln>
        </p:spPr>
      </p:sp>
      <p:pic>
        <p:nvPicPr>
          <p:cNvPr id="12" name="Image 2" descr="02_hardware_static_architecture.png"/>
          <p:cNvPicPr>
            <a:picLocks noChangeAspect="1"/>
          </p:cNvPicPr>
          <p:nvPr/>
        </p:nvPicPr>
        <p:blipFill>
          <a:blip r:embed="rId3"/>
          <a:stretch>
            <a:fillRect/>
          </a:stretch>
        </p:blipFill>
        <p:spPr>
          <a:xfrm>
            <a:off x="8106156" y="1801368"/>
            <a:ext cx="3383280" cy="1544966"/>
          </a:xfrm>
          <a:prstGeom prst="rect">
            <a:avLst/>
          </a:prstGeom>
        </p:spPr>
      </p:pic>
      <p:sp>
        <p:nvSpPr>
          <p:cNvPr id="13" name="Text 8"/>
          <p:cNvSpPr/>
          <p:nvPr/>
        </p:nvSpPr>
        <p:spPr>
          <a:xfrm>
            <a:off x="8014716" y="5349240"/>
            <a:ext cx="356616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Hardware static</a:t>
            </a:r>
            <a:endParaRPr lang="en-US" sz="1100" dirty="0"/>
          </a:p>
        </p:txBody>
      </p:sp>
      <p:sp>
        <p:nvSpPr>
          <p:cNvPr id="14" name="Text 9"/>
          <p:cNvSpPr/>
          <p:nvPr/>
        </p:nvSpPr>
        <p:spPr>
          <a:xfrm>
            <a:off x="457200" y="5852160"/>
            <a:ext cx="11247120" cy="365760"/>
          </a:xfrm>
          <a:prstGeom prst="rect">
            <a:avLst/>
          </a:prstGeom>
          <a:noFill/>
        </p:spPr>
        <p:txBody>
          <a:bodyPr wrap="square" rtlCol="0" anchor="ctr"/>
          <a:lstStyle/>
          <a:p>
            <a:pPr marL="0" indent="0" algn="ctr">
              <a:buNone/>
            </a:pPr>
            <a:r>
              <a:rPr lang="en-US" sz="1150" i="1" dirty="0">
                <a:solidFill>
                  <a:srgbClr val="6B7280"/>
                </a:solidFill>
                <a:latin typeface="Arial" panose="020B0604020202020204" pitchFamily="34" charset="0"/>
                <a:ea typeface="Arial" panose="020B0604020202020204" pitchFamily="34" charset="-122"/>
                <a:cs typeface="Arial" panose="020B0604020202020204" pitchFamily="34" charset="-120"/>
              </a:rPr>
              <a:t>All seven diagrams, plus a block-by-block explanation of each, are in docs/diagrams.md in the repo.</a:t>
            </a:r>
            <a:endParaRPr lang="en-US" sz="11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DESIGN 2/2</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Architecture, At a Glance — Software (C vs C++)</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nvSpPr>
        <p:spPr>
          <a:xfrm>
            <a:off x="470916" y="1691640"/>
            <a:ext cx="2708910" cy="4023360"/>
          </a:xfrm>
          <a:prstGeom prst="rect">
            <a:avLst/>
          </a:prstGeom>
          <a:solidFill>
            <a:srgbClr val="FAFBFC"/>
          </a:solidFill>
          <a:ln w="12700">
            <a:solidFill>
              <a:srgbClr val="D6D9DE"/>
            </a:solidFill>
            <a:prstDash val="solid"/>
          </a:ln>
        </p:spPr>
      </p:sp>
      <p:pic>
        <p:nvPicPr>
          <p:cNvPr id="6" name="Image 0" descr="03_software_static_architecture_c.png"/>
          <p:cNvPicPr>
            <a:picLocks noChangeAspect="1"/>
          </p:cNvPicPr>
          <p:nvPr/>
        </p:nvPicPr>
        <p:blipFill>
          <a:blip r:embed="rId1"/>
          <a:stretch>
            <a:fillRect/>
          </a:stretch>
        </p:blipFill>
        <p:spPr>
          <a:xfrm>
            <a:off x="562356" y="1801368"/>
            <a:ext cx="2526030" cy="2493159"/>
          </a:xfrm>
          <a:prstGeom prst="rect">
            <a:avLst/>
          </a:prstGeom>
        </p:spPr>
      </p:pic>
      <p:sp>
        <p:nvSpPr>
          <p:cNvPr id="7" name="Text 4"/>
          <p:cNvSpPr/>
          <p:nvPr/>
        </p:nvSpPr>
        <p:spPr>
          <a:xfrm>
            <a:off x="470916" y="5349240"/>
            <a:ext cx="270891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C static</a:t>
            </a:r>
            <a:endParaRPr lang="en-US" sz="1100" dirty="0"/>
          </a:p>
        </p:txBody>
      </p:sp>
      <p:sp>
        <p:nvSpPr>
          <p:cNvPr id="8" name="Shape 5"/>
          <p:cNvSpPr/>
          <p:nvPr/>
        </p:nvSpPr>
        <p:spPr>
          <a:xfrm>
            <a:off x="3316986" y="1691640"/>
            <a:ext cx="2708910" cy="4023360"/>
          </a:xfrm>
          <a:prstGeom prst="rect">
            <a:avLst/>
          </a:prstGeom>
          <a:solidFill>
            <a:srgbClr val="FAFBFC"/>
          </a:solidFill>
          <a:ln w="12700">
            <a:solidFill>
              <a:srgbClr val="D6D9DE"/>
            </a:solidFill>
            <a:prstDash val="solid"/>
          </a:ln>
        </p:spPr>
      </p:sp>
      <p:pic>
        <p:nvPicPr>
          <p:cNvPr id="9" name="Image 1" descr="04_software_dynamic_architecture_c.png"/>
          <p:cNvPicPr>
            <a:picLocks noChangeAspect="1"/>
          </p:cNvPicPr>
          <p:nvPr/>
        </p:nvPicPr>
        <p:blipFill>
          <a:blip r:embed="rId2"/>
          <a:stretch>
            <a:fillRect/>
          </a:stretch>
        </p:blipFill>
        <p:spPr>
          <a:xfrm>
            <a:off x="3408426" y="1801368"/>
            <a:ext cx="2526030" cy="1644475"/>
          </a:xfrm>
          <a:prstGeom prst="rect">
            <a:avLst/>
          </a:prstGeom>
        </p:spPr>
      </p:pic>
      <p:sp>
        <p:nvSpPr>
          <p:cNvPr id="10" name="Text 6"/>
          <p:cNvSpPr/>
          <p:nvPr/>
        </p:nvSpPr>
        <p:spPr>
          <a:xfrm>
            <a:off x="3316986" y="5349240"/>
            <a:ext cx="270891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C dynamic</a:t>
            </a:r>
            <a:endParaRPr lang="en-US" sz="1100" dirty="0"/>
          </a:p>
        </p:txBody>
      </p:sp>
      <p:sp>
        <p:nvSpPr>
          <p:cNvPr id="11" name="Shape 7"/>
          <p:cNvSpPr/>
          <p:nvPr/>
        </p:nvSpPr>
        <p:spPr>
          <a:xfrm>
            <a:off x="6163056" y="1691640"/>
            <a:ext cx="2708910" cy="4023360"/>
          </a:xfrm>
          <a:prstGeom prst="rect">
            <a:avLst/>
          </a:prstGeom>
          <a:solidFill>
            <a:srgbClr val="FAFBFC"/>
          </a:solidFill>
          <a:ln w="12700">
            <a:solidFill>
              <a:srgbClr val="D6D9DE"/>
            </a:solidFill>
            <a:prstDash val="solid"/>
          </a:ln>
        </p:spPr>
      </p:sp>
      <p:pic>
        <p:nvPicPr>
          <p:cNvPr id="12" name="Image 2" descr="05_software_static_architecture_cpp.png"/>
          <p:cNvPicPr>
            <a:picLocks noChangeAspect="1"/>
          </p:cNvPicPr>
          <p:nvPr/>
        </p:nvPicPr>
        <p:blipFill>
          <a:blip r:embed="rId3"/>
          <a:stretch>
            <a:fillRect/>
          </a:stretch>
        </p:blipFill>
        <p:spPr>
          <a:xfrm>
            <a:off x="6254496" y="1801368"/>
            <a:ext cx="2526030" cy="1518538"/>
          </a:xfrm>
          <a:prstGeom prst="rect">
            <a:avLst/>
          </a:prstGeom>
        </p:spPr>
      </p:pic>
      <p:sp>
        <p:nvSpPr>
          <p:cNvPr id="13" name="Text 8"/>
          <p:cNvSpPr/>
          <p:nvPr/>
        </p:nvSpPr>
        <p:spPr>
          <a:xfrm>
            <a:off x="6163056" y="5349240"/>
            <a:ext cx="270891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C++ static (UML)</a:t>
            </a:r>
            <a:endParaRPr lang="en-US" sz="1100" dirty="0"/>
          </a:p>
        </p:txBody>
      </p:sp>
      <p:sp>
        <p:nvSpPr>
          <p:cNvPr id="14" name="Shape 9"/>
          <p:cNvSpPr/>
          <p:nvPr/>
        </p:nvSpPr>
        <p:spPr>
          <a:xfrm>
            <a:off x="9009126" y="1691640"/>
            <a:ext cx="2708910" cy="4023360"/>
          </a:xfrm>
          <a:prstGeom prst="rect">
            <a:avLst/>
          </a:prstGeom>
          <a:solidFill>
            <a:srgbClr val="FAFBFC"/>
          </a:solidFill>
          <a:ln w="12700">
            <a:solidFill>
              <a:srgbClr val="D6D9DE"/>
            </a:solidFill>
            <a:prstDash val="solid"/>
          </a:ln>
        </p:spPr>
      </p:sp>
      <p:pic>
        <p:nvPicPr>
          <p:cNvPr id="15" name="Image 3" descr="06_software_dynamic_architecture_cpp.png"/>
          <p:cNvPicPr>
            <a:picLocks noChangeAspect="1"/>
          </p:cNvPicPr>
          <p:nvPr/>
        </p:nvPicPr>
        <p:blipFill>
          <a:blip r:embed="rId4"/>
          <a:stretch>
            <a:fillRect/>
          </a:stretch>
        </p:blipFill>
        <p:spPr>
          <a:xfrm>
            <a:off x="9100566" y="1801368"/>
            <a:ext cx="2526030" cy="2336213"/>
          </a:xfrm>
          <a:prstGeom prst="rect">
            <a:avLst/>
          </a:prstGeom>
        </p:spPr>
      </p:pic>
      <p:sp>
        <p:nvSpPr>
          <p:cNvPr id="16" name="Text 10"/>
          <p:cNvSpPr/>
          <p:nvPr/>
        </p:nvSpPr>
        <p:spPr>
          <a:xfrm>
            <a:off x="9009126" y="5349240"/>
            <a:ext cx="2708910" cy="320040"/>
          </a:xfrm>
          <a:prstGeom prst="rect">
            <a:avLst/>
          </a:prstGeom>
          <a:noFill/>
        </p:spPr>
        <p:txBody>
          <a:bodyPr wrap="square" rtlCol="0" anchor="ctr"/>
          <a:lstStyle/>
          <a:p>
            <a:pPr marL="0" indent="0" algn="ctr">
              <a:buNone/>
            </a:pPr>
            <a:r>
              <a:rPr lang="en-US" sz="1100" b="1" dirty="0">
                <a:solidFill>
                  <a:srgbClr val="2B3648"/>
                </a:solidFill>
                <a:latin typeface="Arial" panose="020B0604020202020204" pitchFamily="34" charset="0"/>
                <a:ea typeface="Arial" panose="020B0604020202020204" pitchFamily="34" charset="-122"/>
                <a:cs typeface="Arial" panose="020B0604020202020204" pitchFamily="34" charset="-120"/>
              </a:rPr>
              <a:t>C++ dynamic (UML)</a:t>
            </a:r>
            <a:endParaRPr lang="en-US" sz="1100" dirty="0"/>
          </a:p>
        </p:txBody>
      </p:sp>
      <p:sp>
        <p:nvSpPr>
          <p:cNvPr id="17" name="Text 11"/>
          <p:cNvSpPr/>
          <p:nvPr/>
        </p:nvSpPr>
        <p:spPr>
          <a:xfrm>
            <a:off x="457200" y="5852160"/>
            <a:ext cx="11247120" cy="365760"/>
          </a:xfrm>
          <a:prstGeom prst="rect">
            <a:avLst/>
          </a:prstGeom>
          <a:noFill/>
        </p:spPr>
        <p:txBody>
          <a:bodyPr wrap="square" rtlCol="0" anchor="ctr"/>
          <a:lstStyle/>
          <a:p>
            <a:pPr marL="0" indent="0" algn="ctr">
              <a:buNone/>
            </a:pPr>
            <a:r>
              <a:rPr lang="en-US" sz="1150" i="1" dirty="0">
                <a:solidFill>
                  <a:srgbClr val="6B7280"/>
                </a:solidFill>
                <a:latin typeface="Arial" panose="020B0604020202020204" pitchFamily="34" charset="0"/>
                <a:ea typeface="Arial" panose="020B0604020202020204" pitchFamily="34" charset="-122"/>
                <a:cs typeface="Arial" panose="020B0604020202020204" pitchFamily="34" charset="-120"/>
              </a:rPr>
              <a:t>Same deferred-processing pattern in both languages: a minimal-work ISR latches the raw value; conversion, classification, and LED update happen in the main loop.</a:t>
            </a:r>
            <a:endParaRPr lang="en-US" sz="11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DESIGN</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Key Design Decisions</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737360"/>
            <a:ext cx="11247120" cy="4206240"/>
          </a:xfrm>
          <a:prstGeom prst="rect">
            <a:avLst/>
          </a:prstGeom>
          <a:noFill/>
        </p:spPr>
        <p:txBody>
          <a:bodyPr wrap="square" rtlCol="0" anchor="t"/>
          <a:lstStyle/>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Minimal-work ISR: the 100µs interrupt only latches the raw ADC value and sets a flag — no float math, no I/O — so the interrupt has constant, predictable execution time</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Deferred processing: conversion, classification, and LED updates happen in the main loop, outside interrupt context, right after the flag is set</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Strategy pattern for sensor resolution: Rev-A/Rev-B is a swappable object (C++) or a simple selector (C), chosen once from EEPROM at startup — not an if/else sprinkled through the code</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Hardware abstraction + dependency injection: IAdc / IGpio / IEeprom interfaces mean the exact same application logic runs against mocks on a PC or real peripherals on target</a:t>
            </a:r>
            <a:endParaRPr lang="en-US" sz="150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DESIGN RATIONALE</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Why Keep the ISR Minimal?</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737360"/>
            <a:ext cx="11247120" cy="4206240"/>
          </a:xfrm>
          <a:prstGeom prst="rect">
            <a:avLst/>
          </a:prstGeom>
          <a:noFill/>
        </p:spPr>
        <p:txBody>
          <a:bodyPr wrap="square" rtlCol="0" anchor="t"/>
          <a:lstStyle/>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100µs period = a 10 kHz sampling event — whatever runs in the ISR runs 10,000 times a second</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A short, constant-time ISR reduces interrupt execution time and timing variability</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Avoiding long operations (float math, I/O, EEPROM access) in interrupt context protects the real-time sampling path</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Deferred processing makes the split between “time-critical” and “application-level” work explicit in the architecture, not just a comment in the code</a:t>
            </a:r>
            <a:endParaRPr lang="en-US" sz="1500" dirty="0"/>
          </a:p>
          <a:p>
            <a:pPr marL="228600" indent="-228600">
              <a:spcAft>
                <a:spcPts val="1000"/>
              </a:spcAft>
              <a:buSzPct val="100000"/>
              <a:buChar char="•"/>
            </a:pPr>
            <a:r>
              <a:rPr lang="en-US" sz="1500" dirty="0">
                <a:solidFill>
                  <a:srgbClr val="2B2F36"/>
                </a:solidFill>
                <a:latin typeface="Arial" panose="020B0604020202020204" pitchFamily="34" charset="0"/>
                <a:ea typeface="Arial" panose="020B0604020202020204" pitchFamily="34" charset="-122"/>
                <a:cs typeface="Arial" panose="020B0604020202020204" pitchFamily="34" charset="-120"/>
              </a:rPr>
              <a:t>This also makes the design easier to reason about and verify — the ISR has exactly one job, so it's easy to review and easy to test</a:t>
            </a:r>
            <a:endParaRPr lang="en-US" sz="150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RESULTS — C</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The C Implementation</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691640"/>
            <a:ext cx="5120640" cy="4206240"/>
          </a:xfrm>
          <a:prstGeom prst="rect">
            <a:avLst/>
          </a:prstGeom>
          <a:noFill/>
        </p:spPr>
        <p:txBody>
          <a:bodyPr wrap="square" rtlCol="0" anchor="t"/>
          <a:lstStyle/>
          <a:p>
            <a:pPr marL="228600" indent="-228600">
              <a:spcAft>
                <a:spcPts val="12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Plain, procedural C11 — structs and free functions, no function pointers or opaque handles</a:t>
            </a:r>
            <a:endParaRPr lang="en-US" sz="1350" dirty="0"/>
          </a:p>
          <a:p>
            <a:pPr marL="228600" indent="-228600">
              <a:spcAft>
                <a:spcPts val="12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adc.h / gpio.h / eeprom.h / temp_sensor.h / led_controller.h / isr.h / config.h, each mocked for the PC demo</a:t>
            </a:r>
            <a:endParaRPr lang="en-US" sz="1350" dirty="0"/>
          </a:p>
          <a:p>
            <a:pPr marL="228600" indent="-228600">
              <a:spcAft>
                <a:spcPts val="12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main.c drives a synthetic temperature ramp through both hardware revisions (with their own EEPROM serial numbers) and prints the resulting LED state</a:t>
            </a:r>
            <a:endParaRPr lang="en-US" sz="1350" dirty="0"/>
          </a:p>
          <a:p>
            <a:pPr marL="228600" indent="-228600">
              <a:spcAft>
                <a:spcPts val="12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Builds with gcc -std=c11 -Wall -Wextra -Wpedantic — zero warnings</a:t>
            </a:r>
            <a:endParaRPr lang="en-US" sz="1350" dirty="0"/>
          </a:p>
        </p:txBody>
      </p:sp>
      <p:sp>
        <p:nvSpPr>
          <p:cNvPr id="6" name="Shape 4"/>
          <p:cNvSpPr/>
          <p:nvPr/>
        </p:nvSpPr>
        <p:spPr>
          <a:xfrm>
            <a:off x="5760720" y="1691640"/>
            <a:ext cx="5943600" cy="4206240"/>
          </a:xfrm>
          <a:prstGeom prst="roundRect">
            <a:avLst>
              <a:gd name="adj" fmla="val 870"/>
            </a:avLst>
          </a:prstGeom>
          <a:solidFill>
            <a:srgbClr val="F4F5F6"/>
          </a:solidFill>
          <a:ln w="12700">
            <a:solidFill>
              <a:srgbClr val="D6D9DE"/>
            </a:solidFill>
            <a:prstDash val="solid"/>
          </a:ln>
        </p:spPr>
      </p:sp>
      <p:sp>
        <p:nvSpPr>
          <p:cNvPr id="7" name="Text 5"/>
          <p:cNvSpPr/>
          <p:nvPr/>
        </p:nvSpPr>
        <p:spPr>
          <a:xfrm>
            <a:off x="5897880" y="1764792"/>
            <a:ext cx="5669280" cy="228600"/>
          </a:xfrm>
          <a:prstGeom prst="rect">
            <a:avLst/>
          </a:prstGeom>
          <a:noFill/>
        </p:spPr>
        <p:txBody>
          <a:bodyPr wrap="square" rtlCol="0" anchor="ctr"/>
          <a:lstStyle/>
          <a:p>
            <a:pPr marL="0" indent="0">
              <a:buNone/>
            </a:pPr>
            <a:r>
              <a:rPr lang="en-US" sz="1000" b="1" dirty="0">
                <a:solidFill>
                  <a:srgbClr val="6B7280"/>
                </a:solidFill>
                <a:latin typeface="Consolas" panose="020B0609020204030204" pitchFamily="34" charset="0"/>
                <a:ea typeface="Consolas" panose="020B0609020204030204" pitchFamily="34" charset="-122"/>
                <a:cs typeface="Consolas" panose="020B0609020204030204" pitchFamily="34" charset="-120"/>
              </a:rPr>
              <a:t>temp_monitor_demo — actual console output</a:t>
            </a:r>
            <a:endParaRPr lang="en-US" sz="1000" dirty="0"/>
          </a:p>
        </p:txBody>
      </p:sp>
      <p:sp>
        <p:nvSpPr>
          <p:cNvPr id="8" name="Shape 6"/>
          <p:cNvSpPr/>
          <p:nvPr/>
        </p:nvSpPr>
        <p:spPr>
          <a:xfrm>
            <a:off x="5897880" y="2020824"/>
            <a:ext cx="5669280" cy="0"/>
          </a:xfrm>
          <a:prstGeom prst="line">
            <a:avLst/>
          </a:prstGeom>
          <a:noFill/>
          <a:ln w="9525">
            <a:solidFill>
              <a:srgbClr val="D6D9DE"/>
            </a:solidFill>
            <a:prstDash val="solid"/>
          </a:ln>
        </p:spPr>
      </p:sp>
      <p:sp>
        <p:nvSpPr>
          <p:cNvPr id="9" name="Text 7"/>
          <p:cNvSpPr/>
          <p:nvPr/>
        </p:nvSpPr>
        <p:spPr>
          <a:xfrm>
            <a:off x="5897880" y="2112264"/>
            <a:ext cx="5669280" cy="3694176"/>
          </a:xfrm>
          <a:prstGeom prst="rect">
            <a:avLst/>
          </a:prstGeom>
          <a:noFill/>
        </p:spPr>
        <p:txBody>
          <a:bodyPr wrap="square" rtlCol="0" anchor="t"/>
          <a:lstStyle/>
          <a:p>
            <a:pPr marL="0" indent="0">
              <a:lnSpc>
                <a:spcPct val="105000"/>
              </a:lnSpc>
              <a:buNone/>
            </a:pPr>
            <a:r>
              <a:rPr lang="en-US" sz="1050" dirty="0">
                <a:solidFill>
                  <a:srgbClr val="6B7280"/>
                </a:solidFill>
                <a:latin typeface="Consolas" panose="020B0609020204030204" pitchFamily="34" charset="0"/>
                <a:ea typeface="Consolas" panose="020B0609020204030204" pitchFamily="34" charset="-122"/>
                <a:cs typeface="Consolas" panose="020B0609020204030204" pitchFamily="34" charset="-120"/>
              </a:rPr>
              <a:t>$ make &amp;&amp; ./temp_monitor_demo</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Hardware Revision: Rev-A (1 degC/digit) | Serial: ABC1234 ===</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GREEN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[OK (low-normal)] raw=20  temp= 20.0C status=OK</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YELLOW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[WARNING (&gt;=85C)] raw=90  temp= 90.0C status=WARNING</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RED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[CRITICAL (&gt;=105C)] raw=110 temp=110.0C status=CRITICAL</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[CRITICAL (&lt;5C, cold)] raw=2 temp=  2.0C status=CRITICAL</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[back to OK] raw=25 temp= 25.0C status=OK</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Hardware Revision: Rev-B (0.1 degC/digit) | Serial: XYZ9876 ===</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[OK] raw=200 temp=20.0C ... same sequence, x0.1 scale</a:t>
            </a:r>
            <a:endParaRPr lang="en-US" sz="10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RESULTS — C++</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The C++ / OOP Implementation</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691640"/>
            <a:ext cx="5120640" cy="4206240"/>
          </a:xfrm>
          <a:prstGeom prst="rect">
            <a:avLst/>
          </a:prstGeom>
          <a:noFill/>
        </p:spPr>
        <p:txBody>
          <a:bodyPr wrap="square" rtlCol="0" anchor="t"/>
          <a:lstStyle/>
          <a:p>
            <a:pPr marL="228600" indent="-228600">
              <a:spcAft>
                <a:spcPts val="11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C++17, interfaces + dependency injection: IAdc, IGpio, IEeprom, ISensorResolutionStrategy</a:t>
            </a:r>
            <a:endParaRPr lang="en-US" sz="1350" dirty="0"/>
          </a:p>
          <a:p>
            <a:pPr marL="228600" indent="-228600">
              <a:spcAft>
                <a:spcPts val="11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TemperatureSensor, TemperatureClassifier, LedController, TemperatureMonitor (orchestrator)</a:t>
            </a:r>
            <a:endParaRPr lang="en-US" sz="1350" dirty="0"/>
          </a:p>
          <a:p>
            <a:pPr marL="228600" indent="-228600">
              <a:spcAft>
                <a:spcPts val="11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RevAResolutionStrategy / RevBResolutionStrategy implement the Strategy pattern for the two hardware revisions</a:t>
            </a:r>
            <a:endParaRPr lang="en-US" sz="1350" dirty="0"/>
          </a:p>
          <a:p>
            <a:pPr marL="228600" indent="-228600">
              <a:spcAft>
                <a:spcPts val="11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TimerIsr provides a C-linkage trampoline, standing in for a real interrupt vector table entry</a:t>
            </a:r>
            <a:endParaRPr lang="en-US" sz="1350" dirty="0"/>
          </a:p>
          <a:p>
            <a:pPr marL="228600" indent="-228600">
              <a:spcAft>
                <a:spcPts val="1100"/>
              </a:spcAft>
              <a:buSzPct val="100000"/>
              <a:buChar char="•"/>
            </a:pPr>
            <a:r>
              <a:rPr lang="en-US" sz="1350" dirty="0">
                <a:solidFill>
                  <a:srgbClr val="2B2F36"/>
                </a:solidFill>
                <a:latin typeface="Arial" panose="020B0604020202020204" pitchFamily="34" charset="0"/>
                <a:ea typeface="Arial" panose="020B0604020202020204" pitchFamily="34" charset="-122"/>
                <a:cs typeface="Arial" panose="020B0604020202020204" pitchFamily="34" charset="-120"/>
              </a:rPr>
              <a:t>Builds with g++ -std=c++17 -Wall -Wextra -Wpedantic — zero warnings, both via Makefile and CMake</a:t>
            </a:r>
            <a:endParaRPr lang="en-US" sz="1350" dirty="0"/>
          </a:p>
        </p:txBody>
      </p:sp>
      <p:sp>
        <p:nvSpPr>
          <p:cNvPr id="6" name="Shape 4"/>
          <p:cNvSpPr/>
          <p:nvPr/>
        </p:nvSpPr>
        <p:spPr>
          <a:xfrm>
            <a:off x="5760720" y="1691640"/>
            <a:ext cx="5943600" cy="4206240"/>
          </a:xfrm>
          <a:prstGeom prst="roundRect">
            <a:avLst>
              <a:gd name="adj" fmla="val 870"/>
            </a:avLst>
          </a:prstGeom>
          <a:solidFill>
            <a:srgbClr val="F4F5F6"/>
          </a:solidFill>
          <a:ln w="12700">
            <a:solidFill>
              <a:srgbClr val="D6D9DE"/>
            </a:solidFill>
            <a:prstDash val="solid"/>
          </a:ln>
        </p:spPr>
      </p:sp>
      <p:sp>
        <p:nvSpPr>
          <p:cNvPr id="7" name="Text 5"/>
          <p:cNvSpPr/>
          <p:nvPr/>
        </p:nvSpPr>
        <p:spPr>
          <a:xfrm>
            <a:off x="5897880" y="1764792"/>
            <a:ext cx="5669280" cy="228600"/>
          </a:xfrm>
          <a:prstGeom prst="rect">
            <a:avLst/>
          </a:prstGeom>
          <a:noFill/>
        </p:spPr>
        <p:txBody>
          <a:bodyPr wrap="square" rtlCol="0" anchor="ctr"/>
          <a:lstStyle/>
          <a:p>
            <a:pPr marL="0" indent="0">
              <a:buNone/>
            </a:pPr>
            <a:r>
              <a:rPr lang="en-US" sz="1000" b="1" dirty="0">
                <a:solidFill>
                  <a:srgbClr val="6B7280"/>
                </a:solidFill>
                <a:latin typeface="Consolas" panose="020B0609020204030204" pitchFamily="34" charset="0"/>
                <a:ea typeface="Consolas" panose="020B0609020204030204" pitchFamily="34" charset="-122"/>
                <a:cs typeface="Consolas" panose="020B0609020204030204" pitchFamily="34" charset="-120"/>
              </a:rPr>
              <a:t>temp_monitor_cpp_demo — actual console output</a:t>
            </a:r>
            <a:endParaRPr lang="en-US" sz="1000" dirty="0"/>
          </a:p>
        </p:txBody>
      </p:sp>
      <p:sp>
        <p:nvSpPr>
          <p:cNvPr id="8" name="Shape 6"/>
          <p:cNvSpPr/>
          <p:nvPr/>
        </p:nvSpPr>
        <p:spPr>
          <a:xfrm>
            <a:off x="5897880" y="2020824"/>
            <a:ext cx="5669280" cy="0"/>
          </a:xfrm>
          <a:prstGeom prst="line">
            <a:avLst/>
          </a:prstGeom>
          <a:noFill/>
          <a:ln w="9525">
            <a:solidFill>
              <a:srgbClr val="D6D9DE"/>
            </a:solidFill>
            <a:prstDash val="solid"/>
          </a:ln>
        </p:spPr>
      </p:sp>
      <p:sp>
        <p:nvSpPr>
          <p:cNvPr id="9" name="Text 7"/>
          <p:cNvSpPr/>
          <p:nvPr/>
        </p:nvSpPr>
        <p:spPr>
          <a:xfrm>
            <a:off x="5897880" y="2112264"/>
            <a:ext cx="5669280" cy="3694176"/>
          </a:xfrm>
          <a:prstGeom prst="rect">
            <a:avLst/>
          </a:prstGeom>
          <a:noFill/>
        </p:spPr>
        <p:txBody>
          <a:bodyPr wrap="square" rtlCol="0" anchor="t"/>
          <a:lstStyle/>
          <a:p>
            <a:pPr marL="0" indent="0">
              <a:lnSpc>
                <a:spcPct val="105000"/>
              </a:lnSpc>
              <a:buNone/>
            </a:pPr>
            <a:r>
              <a:rPr lang="en-US" sz="1050" dirty="0">
                <a:solidFill>
                  <a:srgbClr val="6B7280"/>
                </a:solidFill>
                <a:latin typeface="Consolas" panose="020B0609020204030204" pitchFamily="34" charset="0"/>
                <a:ea typeface="Consolas" panose="020B0609020204030204" pitchFamily="34" charset="-122"/>
                <a:cs typeface="Consolas" panose="020B0609020204030204" pitchFamily="34" charset="-120"/>
              </a:rPr>
              <a:t>$ make &amp;&amp; ./temp_monitor_cpp_demo</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Hardware Revision: Rev-A (1 degC/digit) | Serial: ABC1234 ===</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GREEN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[OK (low-normal)] raw=20  temp= 20.0C status=OK</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YELLOW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[WARNING (&gt;=85C)] raw=90  temp= 90.0C status=WARNING</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[GPIO] LED RED    -&gt; ON</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[CRITICAL (&gt;=105C)] raw=110 temp=110.0C status=CRITICAL</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[CRITICAL (&lt;5C, cold)] raw=2 temp=  2.0C status=CRITICAL</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[back to OK] raw=25 temp= 25.0C status=OK</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Identical behavior to the C demo, incl. Rev-B — same</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demo points, different implementation paradigm.</a:t>
            </a:r>
            <a:endParaRPr lang="en-US" sz="10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TESTING</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How I Verified It</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Text 3"/>
          <p:cNvSpPr/>
          <p:nvPr/>
        </p:nvSpPr>
        <p:spPr>
          <a:xfrm>
            <a:off x="457200" y="1691640"/>
            <a:ext cx="11247120" cy="2103120"/>
          </a:xfrm>
          <a:prstGeom prst="rect">
            <a:avLst/>
          </a:prstGeom>
          <a:noFill/>
        </p:spPr>
        <p:txBody>
          <a:bodyPr wrap="square" rtlCol="0" anchor="t"/>
          <a:lstStyle/>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Every requirement (SYS/HW/TEMP/LED/SW/ERR-x) has at least one test case tied to it in docs/TEST_PLAN.md</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Both C and C++ have a self-contained test suite — no external framework to install, just `make test`</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Covers: revision conversion scaling, all three threshold boundaries, exactly-one-LED-lit invariant, EEPROM-driven revision selection, serial round-trip, ISR presence, invalid revision / NULL pointer rejection</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Also run automatically on every push via GitHub Actions (.github/workflows/ci.yml)</a:t>
            </a:r>
            <a:endParaRPr lang="en-US" sz="1400" dirty="0"/>
          </a:p>
        </p:txBody>
      </p:sp>
      <p:sp>
        <p:nvSpPr>
          <p:cNvPr id="6" name="Shape 4"/>
          <p:cNvSpPr/>
          <p:nvPr/>
        </p:nvSpPr>
        <p:spPr>
          <a:xfrm>
            <a:off x="457200" y="3886200"/>
            <a:ext cx="5532120" cy="2148840"/>
          </a:xfrm>
          <a:prstGeom prst="roundRect">
            <a:avLst>
              <a:gd name="adj" fmla="val 1702"/>
            </a:avLst>
          </a:prstGeom>
          <a:solidFill>
            <a:srgbClr val="F4F5F6"/>
          </a:solidFill>
          <a:ln w="12700">
            <a:solidFill>
              <a:srgbClr val="D6D9DE"/>
            </a:solidFill>
            <a:prstDash val="solid"/>
          </a:ln>
        </p:spPr>
      </p:sp>
      <p:sp>
        <p:nvSpPr>
          <p:cNvPr id="7" name="Text 5"/>
          <p:cNvSpPr/>
          <p:nvPr/>
        </p:nvSpPr>
        <p:spPr>
          <a:xfrm>
            <a:off x="594360" y="3959352"/>
            <a:ext cx="5257800" cy="228600"/>
          </a:xfrm>
          <a:prstGeom prst="rect">
            <a:avLst/>
          </a:prstGeom>
          <a:noFill/>
        </p:spPr>
        <p:txBody>
          <a:bodyPr wrap="square" rtlCol="0" anchor="ctr"/>
          <a:lstStyle/>
          <a:p>
            <a:pPr marL="0" indent="0">
              <a:buNone/>
            </a:pPr>
            <a:r>
              <a:rPr lang="en-US" sz="1000" b="1" dirty="0">
                <a:solidFill>
                  <a:srgbClr val="6B7280"/>
                </a:solidFill>
                <a:latin typeface="Consolas" panose="020B0609020204030204" pitchFamily="34" charset="0"/>
                <a:ea typeface="Consolas" panose="020B0609020204030204" pitchFamily="34" charset="-122"/>
                <a:cs typeface="Consolas" panose="020B0609020204030204" pitchFamily="34" charset="-120"/>
              </a:rPr>
              <a:t>C — make test (11 checks)</a:t>
            </a:r>
            <a:endParaRPr lang="en-US" sz="1000" dirty="0"/>
          </a:p>
        </p:txBody>
      </p:sp>
      <p:sp>
        <p:nvSpPr>
          <p:cNvPr id="8" name="Shape 6"/>
          <p:cNvSpPr/>
          <p:nvPr/>
        </p:nvSpPr>
        <p:spPr>
          <a:xfrm>
            <a:off x="594360" y="4215384"/>
            <a:ext cx="5257800" cy="0"/>
          </a:xfrm>
          <a:prstGeom prst="line">
            <a:avLst/>
          </a:prstGeom>
          <a:noFill/>
          <a:ln w="9525">
            <a:solidFill>
              <a:srgbClr val="D6D9DE"/>
            </a:solidFill>
            <a:prstDash val="solid"/>
          </a:ln>
        </p:spPr>
      </p:sp>
      <p:sp>
        <p:nvSpPr>
          <p:cNvPr id="9" name="Text 7"/>
          <p:cNvSpPr/>
          <p:nvPr/>
        </p:nvSpPr>
        <p:spPr>
          <a:xfrm>
            <a:off x="594360" y="4306824"/>
            <a:ext cx="5257800" cy="1636776"/>
          </a:xfrm>
          <a:prstGeom prst="rect">
            <a:avLst/>
          </a:prstGeom>
          <a:noFill/>
        </p:spPr>
        <p:txBody>
          <a:bodyPr wrap="square" rtlCol="0" anchor="t"/>
          <a:lstStyle/>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cd c &amp;&amp; make test</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1] TC-01 Rev-A raw-&gt;Celsius (x1)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4] TC-04 WARNING/CRITICAL boundary at 105C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10] TC-11 invalid hardware revision rejected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11] TC-12 NULL sensor pointer rejected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Passed: 11   Failed: 0   -&gt; ALL TESTS PASSED</a:t>
            </a:r>
            <a:endParaRPr lang="en-US" sz="1050" dirty="0"/>
          </a:p>
        </p:txBody>
      </p:sp>
      <p:sp>
        <p:nvSpPr>
          <p:cNvPr id="10" name="Shape 8"/>
          <p:cNvSpPr/>
          <p:nvPr/>
        </p:nvSpPr>
        <p:spPr>
          <a:xfrm>
            <a:off x="6172200" y="3886200"/>
            <a:ext cx="5532120" cy="2148840"/>
          </a:xfrm>
          <a:prstGeom prst="roundRect">
            <a:avLst>
              <a:gd name="adj" fmla="val 1702"/>
            </a:avLst>
          </a:prstGeom>
          <a:solidFill>
            <a:srgbClr val="F4F5F6"/>
          </a:solidFill>
          <a:ln w="12700">
            <a:solidFill>
              <a:srgbClr val="D6D9DE"/>
            </a:solidFill>
            <a:prstDash val="solid"/>
          </a:ln>
        </p:spPr>
      </p:sp>
      <p:sp>
        <p:nvSpPr>
          <p:cNvPr id="11" name="Text 9"/>
          <p:cNvSpPr/>
          <p:nvPr/>
        </p:nvSpPr>
        <p:spPr>
          <a:xfrm>
            <a:off x="6309360" y="3959352"/>
            <a:ext cx="5257800" cy="228600"/>
          </a:xfrm>
          <a:prstGeom prst="rect">
            <a:avLst/>
          </a:prstGeom>
          <a:noFill/>
        </p:spPr>
        <p:txBody>
          <a:bodyPr wrap="square" rtlCol="0" anchor="ctr"/>
          <a:lstStyle/>
          <a:p>
            <a:pPr marL="0" indent="0">
              <a:buNone/>
            </a:pPr>
            <a:r>
              <a:rPr lang="en-US" sz="1000" b="1" dirty="0">
                <a:solidFill>
                  <a:srgbClr val="6B7280"/>
                </a:solidFill>
                <a:latin typeface="Consolas" panose="020B0609020204030204" pitchFamily="34" charset="0"/>
                <a:ea typeface="Consolas" panose="020B0609020204030204" pitchFamily="34" charset="-122"/>
                <a:cs typeface="Consolas" panose="020B0609020204030204" pitchFamily="34" charset="-120"/>
              </a:rPr>
              <a:t>C++ — make test (10 checks)</a:t>
            </a:r>
            <a:endParaRPr lang="en-US" sz="1000" dirty="0"/>
          </a:p>
        </p:txBody>
      </p:sp>
      <p:sp>
        <p:nvSpPr>
          <p:cNvPr id="12" name="Shape 10"/>
          <p:cNvSpPr/>
          <p:nvPr/>
        </p:nvSpPr>
        <p:spPr>
          <a:xfrm>
            <a:off x="6309360" y="4215384"/>
            <a:ext cx="5257800" cy="0"/>
          </a:xfrm>
          <a:prstGeom prst="line">
            <a:avLst/>
          </a:prstGeom>
          <a:noFill/>
          <a:ln w="9525">
            <a:solidFill>
              <a:srgbClr val="D6D9DE"/>
            </a:solidFill>
            <a:prstDash val="solid"/>
          </a:ln>
        </p:spPr>
      </p:sp>
      <p:sp>
        <p:nvSpPr>
          <p:cNvPr id="13" name="Text 11"/>
          <p:cNvSpPr/>
          <p:nvPr/>
        </p:nvSpPr>
        <p:spPr>
          <a:xfrm>
            <a:off x="6309360" y="4306824"/>
            <a:ext cx="5257800" cy="1636776"/>
          </a:xfrm>
          <a:prstGeom prst="rect">
            <a:avLst/>
          </a:prstGeom>
          <a:noFill/>
        </p:spPr>
        <p:txBody>
          <a:bodyPr wrap="square" rtlCol="0" anchor="t"/>
          <a:lstStyle/>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 cd cpp &amp;&amp; make test</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1] TC-01 Rev-A raw-&gt;Celsius (x1)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4] TC-04 WARNING/CRITICAL boundary at 105C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9] TC-10 ISR entry point (onTimerTick)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[TEST 10] TC-11 invalid hardware revision rejected ... PASS</a:t>
            </a:r>
            <a:endParaRPr lang="en-US" sz="1050" dirty="0"/>
          </a:p>
          <a:p>
            <a:pPr marL="0" indent="0">
              <a:lnSpc>
                <a:spcPct val="105000"/>
              </a:lnSpc>
              <a:buNone/>
            </a:pPr>
            <a:r>
              <a:rPr lang="en-US" sz="1050" dirty="0">
                <a:solidFill>
                  <a:srgbClr val="2B2F36"/>
                </a:solidFill>
                <a:latin typeface="Consolas" panose="020B0609020204030204" pitchFamily="34" charset="0"/>
                <a:ea typeface="Consolas" panose="020B0609020204030204" pitchFamily="34" charset="-122"/>
                <a:cs typeface="Consolas" panose="020B0609020204030204" pitchFamily="34" charset="-120"/>
              </a:rPr>
              <a:t>Passed: 10   Failed: 0   -&gt; ALL TESTS PASSED</a:t>
            </a:r>
            <a:endParaRPr lang="en-US" sz="10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SCOPE &amp; HONESTY</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What the PC Demo Proves — and Doesn't</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nvSpPr>
        <p:spPr>
          <a:xfrm>
            <a:off x="457200" y="1691640"/>
            <a:ext cx="5440680" cy="4114800"/>
          </a:xfrm>
          <a:prstGeom prst="roundRect">
            <a:avLst>
              <a:gd name="adj" fmla="val 1333"/>
            </a:avLst>
          </a:prstGeom>
          <a:solidFill>
            <a:srgbClr val="F4F9F5"/>
          </a:solidFill>
          <a:ln w="12700">
            <a:solidFill>
              <a:srgbClr val="BFE3CC"/>
            </a:solidFill>
            <a:prstDash val="solid"/>
          </a:ln>
        </p:spPr>
      </p:sp>
      <p:sp>
        <p:nvSpPr>
          <p:cNvPr id="6" name="Text 4"/>
          <p:cNvSpPr/>
          <p:nvPr/>
        </p:nvSpPr>
        <p:spPr>
          <a:xfrm>
            <a:off x="685800" y="1828800"/>
            <a:ext cx="5029200" cy="320040"/>
          </a:xfrm>
          <a:prstGeom prst="rect">
            <a:avLst/>
          </a:prstGeom>
          <a:noFill/>
        </p:spPr>
        <p:txBody>
          <a:bodyPr wrap="square" rtlCol="0" anchor="ctr"/>
          <a:lstStyle/>
          <a:p>
            <a:pPr marL="0" indent="0">
              <a:buNone/>
            </a:pPr>
            <a:r>
              <a:rPr lang="en-US" sz="1400" b="1" dirty="0">
                <a:solidFill>
                  <a:srgbClr val="1E6B3E"/>
                </a:solidFill>
                <a:latin typeface="Arial" panose="020B0604020202020204" pitchFamily="34" charset="0"/>
                <a:ea typeface="Arial" panose="020B0604020202020204" pitchFamily="34" charset="-122"/>
                <a:cs typeface="Arial" panose="020B0604020202020204" pitchFamily="34" charset="-120"/>
              </a:rPr>
              <a:t>Proven on the PC demo</a:t>
            </a:r>
            <a:endParaRPr lang="en-US" sz="1400" dirty="0"/>
          </a:p>
        </p:txBody>
      </p:sp>
      <p:sp>
        <p:nvSpPr>
          <p:cNvPr id="7" name="Text 5"/>
          <p:cNvSpPr/>
          <p:nvPr/>
        </p:nvSpPr>
        <p:spPr>
          <a:xfrm>
            <a:off x="731520" y="2194560"/>
            <a:ext cx="4937760" cy="3474720"/>
          </a:xfrm>
          <a:prstGeom prst="rect">
            <a:avLst/>
          </a:prstGeom>
          <a:noFill/>
        </p:spPr>
        <p:txBody>
          <a:bodyPr wrap="square" rtlCol="0" anchor="t"/>
          <a:lstStyle/>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Functional behavior of the whole pipeline</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C and C++ produce equivalent results</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Mocked hardware integration (ADC / GPIO / EEPROM)</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Rev-A / Rev-B conversion correctness</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Temperature classification and boundaries</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LED behavior — exactly one lit at a time</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ISR / application separation (the code structure itself)</a:t>
            </a:r>
            <a:endParaRPr lang="en-US" sz="1250" dirty="0"/>
          </a:p>
        </p:txBody>
      </p:sp>
      <p:sp>
        <p:nvSpPr>
          <p:cNvPr id="8" name="Shape 6"/>
          <p:cNvSpPr/>
          <p:nvPr/>
        </p:nvSpPr>
        <p:spPr>
          <a:xfrm>
            <a:off x="6263640" y="1691640"/>
            <a:ext cx="5440680" cy="4114800"/>
          </a:xfrm>
          <a:prstGeom prst="roundRect">
            <a:avLst>
              <a:gd name="adj" fmla="val 1333"/>
            </a:avLst>
          </a:prstGeom>
          <a:solidFill>
            <a:srgbClr val="FBF6EC"/>
          </a:solidFill>
          <a:ln w="12700">
            <a:solidFill>
              <a:srgbClr val="F0DDA8"/>
            </a:solidFill>
            <a:prstDash val="solid"/>
          </a:ln>
        </p:spPr>
      </p:sp>
      <p:sp>
        <p:nvSpPr>
          <p:cNvPr id="9" name="Text 7"/>
          <p:cNvSpPr/>
          <p:nvPr/>
        </p:nvSpPr>
        <p:spPr>
          <a:xfrm>
            <a:off x="6492240" y="1828800"/>
            <a:ext cx="5029200" cy="320040"/>
          </a:xfrm>
          <a:prstGeom prst="rect">
            <a:avLst/>
          </a:prstGeom>
          <a:noFill/>
        </p:spPr>
        <p:txBody>
          <a:bodyPr wrap="square" rtlCol="0" anchor="ctr"/>
          <a:lstStyle/>
          <a:p>
            <a:pPr marL="0" indent="0">
              <a:buNone/>
            </a:pPr>
            <a:r>
              <a:rPr lang="en-US" sz="1400" b="1" dirty="0">
                <a:solidFill>
                  <a:srgbClr val="8A6116"/>
                </a:solidFill>
                <a:latin typeface="Arial" panose="020B0604020202020204" pitchFamily="34" charset="0"/>
                <a:ea typeface="Arial" panose="020B0604020202020204" pitchFamily="34" charset="-122"/>
                <a:cs typeface="Arial" panose="020B0604020202020204" pitchFamily="34" charset="-120"/>
              </a:rPr>
              <a:t>Still needs target hardware</a:t>
            </a:r>
            <a:endParaRPr lang="en-US" sz="1400" dirty="0"/>
          </a:p>
        </p:txBody>
      </p:sp>
      <p:sp>
        <p:nvSpPr>
          <p:cNvPr id="10" name="Text 8"/>
          <p:cNvSpPr/>
          <p:nvPr/>
        </p:nvSpPr>
        <p:spPr>
          <a:xfrm>
            <a:off x="6492240" y="2194560"/>
            <a:ext cx="4937760" cy="3474720"/>
          </a:xfrm>
          <a:prstGeom prst="rect">
            <a:avLst/>
          </a:prstGeom>
          <a:noFill/>
        </p:spPr>
        <p:txBody>
          <a:bodyPr wrap="square" rtlCol="0" anchor="t"/>
          <a:lstStyle/>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Actual timer accuracy</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True 100µs period on real silicon</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Real interrupt jitter</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ADC sampling timing</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Real ISR execution time</a:t>
            </a:r>
            <a:endParaRPr lang="en-US" sz="1250" dirty="0"/>
          </a:p>
          <a:p>
            <a:pPr marL="228600" indent="-228600">
              <a:spcAft>
                <a:spcPts val="800"/>
              </a:spcAft>
              <a:buSzPct val="100000"/>
              <a:buChar char="•"/>
            </a:pPr>
            <a:r>
              <a:rPr lang="en-US" sz="1250" dirty="0">
                <a:solidFill>
                  <a:srgbClr val="2B2F36"/>
                </a:solidFill>
                <a:latin typeface="Arial" panose="020B0604020202020204" pitchFamily="34" charset="0"/>
                <a:ea typeface="Arial" panose="020B0604020202020204" pitchFamily="34" charset="-122"/>
                <a:cs typeface="Arial" panose="020B0604020202020204" pitchFamily="34" charset="-120"/>
              </a:rPr>
              <a:t>Timing margin under real system load</a:t>
            </a:r>
            <a:endParaRPr lang="en-US" sz="12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RESULTS</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Results Summary</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custDataLst>
              <p:tags r:id="rId1"/>
            </p:custDataLst>
          </p:nvPr>
        </p:nvSpPr>
        <p:spPr>
          <a:xfrm>
            <a:off x="457200" y="1828800"/>
            <a:ext cx="2571750" cy="1554480"/>
          </a:xfrm>
          <a:prstGeom prst="roundRect">
            <a:avLst>
              <a:gd name="adj" fmla="val 3529"/>
            </a:avLst>
          </a:prstGeom>
          <a:solidFill>
            <a:srgbClr val="F4F6F9"/>
          </a:solidFill>
          <a:ln w="12700">
            <a:solidFill>
              <a:srgbClr val="D6D9DE"/>
            </a:solidFill>
            <a:prstDash val="solid"/>
          </a:ln>
        </p:spPr>
      </p:sp>
      <p:sp>
        <p:nvSpPr>
          <p:cNvPr id="6" name="Text 4"/>
          <p:cNvSpPr/>
          <p:nvPr>
            <p:custDataLst>
              <p:tags r:id="rId2"/>
            </p:custDataLst>
          </p:nvPr>
        </p:nvSpPr>
        <p:spPr>
          <a:xfrm>
            <a:off x="457200" y="1938528"/>
            <a:ext cx="2571750" cy="1051560"/>
          </a:xfrm>
          <a:prstGeom prst="rect">
            <a:avLst/>
          </a:prstGeom>
          <a:noFill/>
        </p:spPr>
        <p:txBody>
          <a:bodyPr wrap="square" rtlCol="0" anchor="ctr"/>
          <a:lstStyle/>
          <a:p>
            <a:pPr marL="0" indent="0" algn="ctr">
              <a:buNone/>
            </a:pPr>
            <a:r>
              <a:rPr lang="en-US" sz="3000" b="1" dirty="0">
                <a:solidFill>
                  <a:srgbClr val="2E7D4F"/>
                </a:solidFill>
                <a:latin typeface="Arial" panose="020B0604020202020204" pitchFamily="34" charset="0"/>
                <a:ea typeface="Arial" panose="020B0604020202020204" pitchFamily="34" charset="-122"/>
                <a:cs typeface="Arial" panose="020B0604020202020204" pitchFamily="34" charset="-120"/>
              </a:rPr>
              <a:t>21 / 21</a:t>
            </a:r>
            <a:endParaRPr lang="en-US" sz="3000" dirty="0"/>
          </a:p>
        </p:txBody>
      </p:sp>
      <p:sp>
        <p:nvSpPr>
          <p:cNvPr id="7" name="Text 5"/>
          <p:cNvSpPr/>
          <p:nvPr>
            <p:custDataLst>
              <p:tags r:id="rId3"/>
            </p:custDataLst>
          </p:nvPr>
        </p:nvSpPr>
        <p:spPr>
          <a:xfrm>
            <a:off x="457200" y="2971800"/>
            <a:ext cx="2571750" cy="365760"/>
          </a:xfrm>
          <a:prstGeom prst="rect">
            <a:avLst/>
          </a:prstGeom>
          <a:noFill/>
        </p:spPr>
        <p:txBody>
          <a:bodyPr wrap="square" rtlCol="0" anchor="ctr"/>
          <a:lstStyle/>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Automated tests passing</a:t>
            </a:r>
            <a:endParaRPr lang="en-US" sz="1100" dirty="0"/>
          </a:p>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(11 C + 10 C++)</a:t>
            </a:r>
            <a:endParaRPr lang="en-US" sz="1100" dirty="0"/>
          </a:p>
        </p:txBody>
      </p:sp>
      <p:sp>
        <p:nvSpPr>
          <p:cNvPr id="8" name="Shape 6"/>
          <p:cNvSpPr/>
          <p:nvPr>
            <p:custDataLst>
              <p:tags r:id="rId4"/>
            </p:custDataLst>
          </p:nvPr>
        </p:nvSpPr>
        <p:spPr>
          <a:xfrm>
            <a:off x="3348990" y="1828800"/>
            <a:ext cx="2571750" cy="1554480"/>
          </a:xfrm>
          <a:prstGeom prst="roundRect">
            <a:avLst>
              <a:gd name="adj" fmla="val 3529"/>
            </a:avLst>
          </a:prstGeom>
          <a:solidFill>
            <a:srgbClr val="F4F6F9"/>
          </a:solidFill>
          <a:ln w="12700">
            <a:solidFill>
              <a:srgbClr val="D6D9DE"/>
            </a:solidFill>
            <a:prstDash val="solid"/>
          </a:ln>
        </p:spPr>
      </p:sp>
      <p:sp>
        <p:nvSpPr>
          <p:cNvPr id="9" name="Text 7"/>
          <p:cNvSpPr/>
          <p:nvPr>
            <p:custDataLst>
              <p:tags r:id="rId5"/>
            </p:custDataLst>
          </p:nvPr>
        </p:nvSpPr>
        <p:spPr>
          <a:xfrm>
            <a:off x="3348990" y="1938528"/>
            <a:ext cx="2571750" cy="1051560"/>
          </a:xfrm>
          <a:prstGeom prst="rect">
            <a:avLst/>
          </a:prstGeom>
          <a:noFill/>
        </p:spPr>
        <p:txBody>
          <a:bodyPr wrap="square" rtlCol="0" anchor="ctr"/>
          <a:lstStyle/>
          <a:p>
            <a:pPr marL="0" indent="0" algn="ctr">
              <a:buNone/>
            </a:pPr>
            <a:r>
              <a:rPr lang="en-US" sz="3000" b="1" dirty="0">
                <a:solidFill>
                  <a:srgbClr val="2E7D4F"/>
                </a:solidFill>
                <a:latin typeface="Arial" panose="020B0604020202020204" pitchFamily="34" charset="0"/>
                <a:ea typeface="Arial" panose="020B0604020202020204" pitchFamily="34" charset="-122"/>
                <a:cs typeface="Arial" panose="020B0604020202020204" pitchFamily="34" charset="-120"/>
              </a:rPr>
              <a:t>0</a:t>
            </a:r>
            <a:endParaRPr lang="en-US" sz="3000" dirty="0"/>
          </a:p>
        </p:txBody>
      </p:sp>
      <p:sp>
        <p:nvSpPr>
          <p:cNvPr id="10" name="Text 8"/>
          <p:cNvSpPr/>
          <p:nvPr>
            <p:custDataLst>
              <p:tags r:id="rId6"/>
            </p:custDataLst>
          </p:nvPr>
        </p:nvSpPr>
        <p:spPr>
          <a:xfrm>
            <a:off x="3348990" y="2971800"/>
            <a:ext cx="2571750" cy="365760"/>
          </a:xfrm>
          <a:prstGeom prst="rect">
            <a:avLst/>
          </a:prstGeom>
          <a:noFill/>
        </p:spPr>
        <p:txBody>
          <a:bodyPr wrap="square" rtlCol="0" anchor="ctr"/>
          <a:lstStyle/>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Compiler warnings</a:t>
            </a:r>
            <a:endParaRPr lang="en-US" sz="1100" dirty="0"/>
          </a:p>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(-Wall -Wextra -Wpedantic)</a:t>
            </a:r>
            <a:endParaRPr lang="en-US" sz="1100" dirty="0"/>
          </a:p>
        </p:txBody>
      </p:sp>
      <p:sp>
        <p:nvSpPr>
          <p:cNvPr id="11" name="Shape 9"/>
          <p:cNvSpPr/>
          <p:nvPr>
            <p:custDataLst>
              <p:tags r:id="rId7"/>
            </p:custDataLst>
          </p:nvPr>
        </p:nvSpPr>
        <p:spPr>
          <a:xfrm>
            <a:off x="6240780" y="1828800"/>
            <a:ext cx="2571750" cy="1554480"/>
          </a:xfrm>
          <a:prstGeom prst="roundRect">
            <a:avLst>
              <a:gd name="adj" fmla="val 3529"/>
            </a:avLst>
          </a:prstGeom>
          <a:solidFill>
            <a:srgbClr val="F4F6F9"/>
          </a:solidFill>
          <a:ln w="12700">
            <a:solidFill>
              <a:srgbClr val="D6D9DE"/>
            </a:solidFill>
            <a:prstDash val="solid"/>
          </a:ln>
        </p:spPr>
      </p:sp>
      <p:sp>
        <p:nvSpPr>
          <p:cNvPr id="12" name="Text 10"/>
          <p:cNvSpPr/>
          <p:nvPr>
            <p:custDataLst>
              <p:tags r:id="rId8"/>
            </p:custDataLst>
          </p:nvPr>
        </p:nvSpPr>
        <p:spPr>
          <a:xfrm>
            <a:off x="6240780" y="1938528"/>
            <a:ext cx="2571750" cy="1051560"/>
          </a:xfrm>
          <a:prstGeom prst="rect">
            <a:avLst/>
          </a:prstGeom>
          <a:noFill/>
        </p:spPr>
        <p:txBody>
          <a:bodyPr wrap="square" rtlCol="0" anchor="ctr"/>
          <a:lstStyle/>
          <a:p>
            <a:pPr marL="0" indent="0" algn="ctr">
              <a:buNone/>
            </a:pPr>
            <a:r>
              <a:rPr lang="en-US" sz="3000" b="1" dirty="0">
                <a:solidFill>
                  <a:srgbClr val="2B3648"/>
                </a:solidFill>
                <a:latin typeface="Arial" panose="020B0604020202020204" pitchFamily="34" charset="0"/>
                <a:ea typeface="Arial" panose="020B0604020202020204" pitchFamily="34" charset="-122"/>
                <a:cs typeface="Arial" panose="020B0604020202020204" pitchFamily="34" charset="-120"/>
              </a:rPr>
              <a:t>2</a:t>
            </a:r>
            <a:endParaRPr lang="en-US" sz="3000" dirty="0"/>
          </a:p>
        </p:txBody>
      </p:sp>
      <p:sp>
        <p:nvSpPr>
          <p:cNvPr id="13" name="Text 11"/>
          <p:cNvSpPr/>
          <p:nvPr>
            <p:custDataLst>
              <p:tags r:id="rId9"/>
            </p:custDataLst>
          </p:nvPr>
        </p:nvSpPr>
        <p:spPr>
          <a:xfrm>
            <a:off x="6240780" y="2971800"/>
            <a:ext cx="2571750" cy="365760"/>
          </a:xfrm>
          <a:prstGeom prst="rect">
            <a:avLst/>
          </a:prstGeom>
          <a:noFill/>
        </p:spPr>
        <p:txBody>
          <a:bodyPr wrap="square" rtlCol="0" anchor="ctr"/>
          <a:lstStyle/>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Working implementations</a:t>
            </a:r>
            <a:endParaRPr lang="en-US" sz="1100" dirty="0"/>
          </a:p>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(C procedural, C++ OOP)</a:t>
            </a:r>
            <a:endParaRPr lang="en-US" sz="1100" dirty="0"/>
          </a:p>
        </p:txBody>
      </p:sp>
      <p:sp>
        <p:nvSpPr>
          <p:cNvPr id="14" name="Shape 12"/>
          <p:cNvSpPr/>
          <p:nvPr>
            <p:custDataLst>
              <p:tags r:id="rId10"/>
            </p:custDataLst>
          </p:nvPr>
        </p:nvSpPr>
        <p:spPr>
          <a:xfrm>
            <a:off x="9132570" y="1828800"/>
            <a:ext cx="2571750" cy="1554480"/>
          </a:xfrm>
          <a:prstGeom prst="roundRect">
            <a:avLst>
              <a:gd name="adj" fmla="val 3529"/>
            </a:avLst>
          </a:prstGeom>
          <a:solidFill>
            <a:srgbClr val="F4F6F9"/>
          </a:solidFill>
          <a:ln w="12700">
            <a:solidFill>
              <a:srgbClr val="D6D9DE"/>
            </a:solidFill>
            <a:prstDash val="solid"/>
          </a:ln>
        </p:spPr>
      </p:sp>
      <p:sp>
        <p:nvSpPr>
          <p:cNvPr id="15" name="Text 13"/>
          <p:cNvSpPr/>
          <p:nvPr>
            <p:custDataLst>
              <p:tags r:id="rId11"/>
            </p:custDataLst>
          </p:nvPr>
        </p:nvSpPr>
        <p:spPr>
          <a:xfrm>
            <a:off x="9132570" y="1938528"/>
            <a:ext cx="2571750" cy="1051560"/>
          </a:xfrm>
          <a:prstGeom prst="rect">
            <a:avLst/>
          </a:prstGeom>
          <a:noFill/>
        </p:spPr>
        <p:txBody>
          <a:bodyPr wrap="square" rtlCol="0" anchor="ctr"/>
          <a:lstStyle/>
          <a:p>
            <a:pPr marL="0" indent="0" algn="ctr">
              <a:buNone/>
            </a:pPr>
            <a:r>
              <a:rPr lang="en-US" sz="3000" b="1" dirty="0">
                <a:solidFill>
                  <a:srgbClr val="2B3648"/>
                </a:solidFill>
                <a:latin typeface="Arial" panose="020B0604020202020204" pitchFamily="34" charset="0"/>
                <a:ea typeface="Arial" panose="020B0604020202020204" pitchFamily="34" charset="-122"/>
                <a:cs typeface="Arial" panose="020B0604020202020204" pitchFamily="34" charset="-120"/>
              </a:rPr>
              <a:t>7</a:t>
            </a:r>
            <a:endParaRPr lang="en-US" sz="3000" dirty="0"/>
          </a:p>
        </p:txBody>
      </p:sp>
      <p:sp>
        <p:nvSpPr>
          <p:cNvPr id="16" name="Text 14"/>
          <p:cNvSpPr/>
          <p:nvPr>
            <p:custDataLst>
              <p:tags r:id="rId12"/>
            </p:custDataLst>
          </p:nvPr>
        </p:nvSpPr>
        <p:spPr>
          <a:xfrm>
            <a:off x="9132570" y="2971800"/>
            <a:ext cx="2571750" cy="365760"/>
          </a:xfrm>
          <a:prstGeom prst="rect">
            <a:avLst/>
          </a:prstGeom>
          <a:noFill/>
        </p:spPr>
        <p:txBody>
          <a:bodyPr wrap="square" rtlCol="0" anchor="ctr"/>
          <a:lstStyle/>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Architecture diagrams</a:t>
            </a:r>
            <a:endParaRPr lang="en-US" sz="1100" dirty="0"/>
          </a:p>
          <a:p>
            <a:pPr marL="0" indent="0" algn="ctr">
              <a:buNone/>
            </a:pPr>
            <a:r>
              <a:rPr lang="en-US" sz="1100" dirty="0">
                <a:solidFill>
                  <a:srgbClr val="6B7280"/>
                </a:solidFill>
                <a:latin typeface="Arial" panose="020B0604020202020204" pitchFamily="34" charset="0"/>
                <a:ea typeface="Arial" panose="020B0604020202020204" pitchFamily="34" charset="-122"/>
                <a:cs typeface="Arial" panose="020B0604020202020204" pitchFamily="34" charset="-120"/>
              </a:rPr>
              <a:t>(verified)</a:t>
            </a:r>
            <a:endParaRPr lang="en-US" sz="1100" dirty="0"/>
          </a:p>
        </p:txBody>
      </p:sp>
      <p:sp>
        <p:nvSpPr>
          <p:cNvPr id="17" name="Text 15"/>
          <p:cNvSpPr/>
          <p:nvPr/>
        </p:nvSpPr>
        <p:spPr>
          <a:xfrm>
            <a:off x="457200" y="3703320"/>
            <a:ext cx="11247120" cy="2651760"/>
          </a:xfrm>
          <a:prstGeom prst="rect">
            <a:avLst/>
          </a:prstGeom>
          <a:noFill/>
        </p:spPr>
        <p:txBody>
          <a:bodyPr wrap="square" rtlCol="0" anchor="t"/>
          <a:lstStyle/>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Both demo programs run end-to-end on a plain PC — no target hardware, no emulator</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Both build clean via their documented commands (make, and CMake for C++) — verified from a fresh clone, not just on my machine</a:t>
            </a:r>
            <a:endParaRPr lang="en-US" sz="1400" dirty="0"/>
          </a:p>
          <a:p>
            <a:pPr marL="228600" indent="-228600">
              <a:spcAft>
                <a:spcPts val="1000"/>
              </a:spcAft>
              <a:buSzPct val="100000"/>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Every requirement in the task PDF is traced to a design element and at least one test case — see docs/REQUIREMENTS.md and docs/TEST_PLAN.md</a:t>
            </a:r>
            <a:endParaRPr lang="en-US" sz="1400" dirty="0"/>
          </a:p>
          <a:p>
            <a:pPr marL="228600" indent="-228600" algn="l">
              <a:spcAft>
                <a:spcPts val="1000"/>
              </a:spcAft>
              <a:buClrTx/>
              <a:buSzTx/>
              <a:buFontTx/>
              <a:buChar char="•"/>
            </a:pP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sym typeface="+mn-ea"/>
              </a:rPr>
              <a:t>All Architecture </a:t>
            </a:r>
            <a:r>
              <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rPr>
              <a:t>Diagrams were re-checked and verified</a:t>
            </a:r>
            <a:endParaRPr lang="en-US" sz="1400"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TRACEABILITY RECAP</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Closing the Loop — Every Requirement Accounted For</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Shape 2"/>
          <p:cNvSpPr/>
          <p:nvPr/>
        </p:nvSpPr>
        <p:spPr>
          <a:xfrm>
            <a:off x="365760" y="1444752"/>
            <a:ext cx="11430000" cy="0"/>
          </a:xfrm>
          <a:prstGeom prst="line">
            <a:avLst/>
          </a:prstGeom>
          <a:noFill/>
          <a:ln w="12700">
            <a:solidFill>
              <a:srgbClr val="D6D9DE"/>
            </a:solidFill>
            <a:prstDash val="solid"/>
          </a:ln>
        </p:spPr>
      </p:sp>
      <p:graphicFrame>
        <p:nvGraphicFramePr>
          <p:cNvPr id="20" name="Table 0"/>
          <p:cNvGraphicFramePr>
            <a:graphicFrameLocks noGrp="1"/>
          </p:cNvGraphicFramePr>
          <p:nvPr/>
        </p:nvGraphicFramePr>
        <p:xfrm>
          <a:off x="457200" y="1645920"/>
          <a:ext cx="11247120" cy="914400"/>
        </p:xfrm>
        <a:graphic>
          <a:graphicData uri="http://schemas.openxmlformats.org/drawingml/2006/table">
            <a:tbl>
              <a:tblPr/>
              <a:tblGrid>
                <a:gridCol w="2834640"/>
                <a:gridCol w="8412480"/>
              </a:tblGrid>
              <a:tr h="0">
                <a:tc>
                  <a:txBody>
                    <a:bodyPr/>
                    <a:lstStyle/>
                    <a:p>
                      <a:pPr marL="0" indent="0">
                        <a:buNone/>
                      </a:pPr>
                      <a:r>
                        <a:rPr lang="en-US" sz="1250" b="1" dirty="0">
                          <a:solidFill>
                            <a:srgbClr val="FFFFFF"/>
                          </a:solidFill>
                          <a:latin typeface="Arial" panose="020B0604020202020204" pitchFamily="34" charset="0"/>
                          <a:ea typeface="Arial" panose="020B0604020202020204" pitchFamily="34" charset="-122"/>
                          <a:cs typeface="Arial" panose="020B0604020202020204" pitchFamily="34" charset="-120"/>
                        </a:rPr>
                        <a:t>Category</a:t>
                      </a:r>
                      <a:endParaRPr lang="en-US" sz="125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c>
                  <a:txBody>
                    <a:bodyPr/>
                    <a:lstStyle/>
                    <a:p>
                      <a:pPr marL="0" indent="0">
                        <a:buNone/>
                      </a:pPr>
                      <a:r>
                        <a:rPr lang="en-US" sz="1250" b="1" dirty="0">
                          <a:solidFill>
                            <a:srgbClr val="FFFFFF"/>
                          </a:solidFill>
                          <a:latin typeface="Arial" panose="020B0604020202020204" pitchFamily="34" charset="0"/>
                          <a:ea typeface="Arial" panose="020B0604020202020204" pitchFamily="34" charset="-122"/>
                          <a:cs typeface="Arial" panose="020B0604020202020204" pitchFamily="34" charset="-120"/>
                        </a:rPr>
                        <a:t>Status</a:t>
                      </a:r>
                      <a:endParaRPr lang="en-US" sz="125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44546A"/>
                    </a:solidFill>
                  </a:tcPr>
                </a:tc>
              </a:tr>
              <a:tr h="0">
                <a:tc>
                  <a:txBody>
                    <a:bodyPr/>
                    <a:lstStyle/>
                    <a:p>
                      <a:pPr marL="0" indent="0">
                        <a:buNone/>
                      </a:pPr>
                      <a:r>
                        <a:rPr lang="en-US" sz="1200" b="1" dirty="0">
                          <a:solidFill>
                            <a:srgbClr val="2B2F36"/>
                          </a:solidFill>
                          <a:latin typeface="Arial" panose="020B0604020202020204" pitchFamily="34" charset="0"/>
                          <a:ea typeface="Arial" panose="020B0604020202020204" pitchFamily="34" charset="-122"/>
                          <a:cs typeface="Arial" panose="020B0604020202020204" pitchFamily="34" charset="-120"/>
                        </a:rPr>
                        <a:t>System (SYS-1..5)</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c>
                  <a:txBody>
                    <a:bodyPr/>
                    <a:lstStyle/>
                    <a:p>
                      <a:pPr marL="0" indent="0">
                        <a:buNone/>
                      </a:pPr>
                      <a:r>
                        <a:rPr lang="en-US" sz="1200" dirty="0">
                          <a:solidFill>
                            <a:srgbClr val="2B2F36"/>
                          </a:solidFill>
                          <a:latin typeface="Arial" panose="020B0604020202020204" pitchFamily="34" charset="0"/>
                          <a:ea typeface="Arial" panose="020B0604020202020204" pitchFamily="34" charset="-122"/>
                          <a:cs typeface="Arial" panose="020B0604020202020204" pitchFamily="34" charset="-120"/>
                        </a:rPr>
                        <a:t>Done — architecture documented, C+C++ delivered, PC-mocked demo; publishing to GitHub is the one remaining step, covered on the next slide</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r>
              <a:tr h="0">
                <a:tc>
                  <a:txBody>
                    <a:bodyPr/>
                    <a:lstStyle/>
                    <a:p>
                      <a:pPr marL="0" indent="0">
                        <a:buNone/>
                      </a:pPr>
                      <a:r>
                        <a:rPr lang="en-US" sz="1200" b="1" dirty="0">
                          <a:solidFill>
                            <a:srgbClr val="2B2F36"/>
                          </a:solidFill>
                          <a:latin typeface="Arial" panose="020B0604020202020204" pitchFamily="34" charset="0"/>
                          <a:ea typeface="Arial" panose="020B0604020202020204" pitchFamily="34" charset="-122"/>
                          <a:cs typeface="Arial" panose="020B0604020202020204" pitchFamily="34" charset="-120"/>
                        </a:rPr>
                        <a:t>Hardware (HW-1..5)</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200" dirty="0">
                          <a:solidFill>
                            <a:srgbClr val="2B2F36"/>
                          </a:solidFill>
                          <a:latin typeface="Arial" panose="020B0604020202020204" pitchFamily="34" charset="0"/>
                          <a:ea typeface="Arial" panose="020B0604020202020204" pitchFamily="34" charset="-122"/>
                          <a:cs typeface="Arial" panose="020B0604020202020204" pitchFamily="34" charset="-120"/>
                        </a:rPr>
                        <a:t>Done — ADC, GPIO, I2C EEPROM, timer, two revisions all represented in the abstraction layer + diagrams</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200" b="1" dirty="0">
                          <a:solidFill>
                            <a:srgbClr val="2B2F36"/>
                          </a:solidFill>
                          <a:latin typeface="Arial" panose="020B0604020202020204" pitchFamily="34" charset="0"/>
                          <a:ea typeface="Arial" panose="020B0604020202020204" pitchFamily="34" charset="-122"/>
                          <a:cs typeface="Arial" panose="020B0604020202020204" pitchFamily="34" charset="-120"/>
                        </a:rPr>
                        <a:t>Temperature &amp; LED (TEMP-1..4, LED-1..5)</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c>
                  <a:txBody>
                    <a:bodyPr/>
                    <a:lstStyle/>
                    <a:p>
                      <a:pPr marL="0" indent="0">
                        <a:buNone/>
                      </a:pPr>
                      <a:r>
                        <a:rPr lang="en-US" sz="1200" dirty="0">
                          <a:solidFill>
                            <a:srgbClr val="2B2F36"/>
                          </a:solidFill>
                          <a:latin typeface="Arial" panose="020B0604020202020204" pitchFamily="34" charset="0"/>
                          <a:ea typeface="Arial" panose="020B0604020202020204" pitchFamily="34" charset="-122"/>
                          <a:cs typeface="Arial" panose="020B0604020202020204" pitchFamily="34" charset="-120"/>
                        </a:rPr>
                        <a:t>Done — Rev-A/Rev-B conversion, all three thresholds (5, 85, 105°C), exactly-one-LED invariant, all boundary-tested</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r>
              <a:tr h="0">
                <a:tc>
                  <a:txBody>
                    <a:bodyPr/>
                    <a:lstStyle/>
                    <a:p>
                      <a:pPr marL="0" indent="0">
                        <a:buNone/>
                      </a:pPr>
                      <a:r>
                        <a:rPr lang="en-US" sz="1200" b="1" dirty="0">
                          <a:solidFill>
                            <a:srgbClr val="2B2F36"/>
                          </a:solidFill>
                          <a:latin typeface="Arial" panose="020B0604020202020204" pitchFamily="34" charset="0"/>
                          <a:ea typeface="Arial" panose="020B0604020202020204" pitchFamily="34" charset="-122"/>
                          <a:cs typeface="Arial" panose="020B0604020202020204" pitchFamily="34" charset="-120"/>
                        </a:rPr>
                        <a:t>Software (SW-1..8)</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c>
                  <a:txBody>
                    <a:bodyPr/>
                    <a:lstStyle/>
                    <a:p>
                      <a:pPr marL="0" indent="0">
                        <a:buNone/>
                      </a:pPr>
                      <a:r>
                        <a:rPr lang="en-US" sz="1200" dirty="0">
                          <a:solidFill>
                            <a:srgbClr val="2B2F36"/>
                          </a:solidFill>
                          <a:latin typeface="Arial" panose="020B0604020202020204" pitchFamily="34" charset="0"/>
                          <a:ea typeface="Arial" panose="020B0604020202020204" pitchFamily="34" charset="-122"/>
                          <a:cs typeface="Arial" panose="020B0604020202020204" pitchFamily="34" charset="-120"/>
                        </a:rPr>
                        <a:t>Done — 100µs minimal-work ISR, revision-aware conversion, EEPROM config, mocked HW, both language implementations</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FFFFF"/>
                    </a:solidFill>
                  </a:tcPr>
                </a:tc>
              </a:tr>
              <a:tr h="0">
                <a:tc>
                  <a:txBody>
                    <a:bodyPr/>
                    <a:lstStyle/>
                    <a:p>
                      <a:pPr marL="0" indent="0">
                        <a:buNone/>
                      </a:pPr>
                      <a:r>
                        <a:rPr lang="en-US" sz="1200" b="1" dirty="0">
                          <a:solidFill>
                            <a:srgbClr val="2B2F36"/>
                          </a:solidFill>
                          <a:latin typeface="Arial" panose="020B0604020202020204" pitchFamily="34" charset="0"/>
                          <a:ea typeface="Arial" panose="020B0604020202020204" pitchFamily="34" charset="-122"/>
                          <a:cs typeface="Arial" panose="020B0604020202020204" pitchFamily="34" charset="-120"/>
                        </a:rPr>
                        <a:t>Error Handling (ERR-1..3)</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c>
                  <a:txBody>
                    <a:bodyPr/>
                    <a:lstStyle/>
                    <a:p>
                      <a:pPr marL="0" indent="0">
                        <a:buNone/>
                      </a:pPr>
                      <a:r>
                        <a:rPr lang="en-US" sz="1200" dirty="0">
                          <a:solidFill>
                            <a:srgbClr val="2B2F36"/>
                          </a:solidFill>
                          <a:latin typeface="Arial" panose="020B0604020202020204" pitchFamily="34" charset="0"/>
                          <a:ea typeface="Arial" panose="020B0604020202020204" pitchFamily="34" charset="-122"/>
                          <a:cs typeface="Arial" panose="020B0604020202020204" pitchFamily="34" charset="-120"/>
                        </a:rPr>
                        <a:t>Done — invalid hardware revision and NULL sensor pointer rejected, no silent fallback</a:t>
                      </a:r>
                      <a:endParaRPr lang="en-US" sz="1200" dirty="0">
                        <a:latin typeface="Arial" panose="020B0604020202020204" pitchFamily="34" charset="0"/>
                        <a:ea typeface="Arial" panose="020B0604020202020204" pitchFamily="34" charset="0"/>
                        <a:cs typeface="Arial" panose="020B0604020202020204" pitchFamily="34" charset="0"/>
                      </a:endParaRPr>
                    </a:p>
                  </a:txBody>
                  <a:tcPr marL="88900" marR="88900" marT="63500" marB="63500" anchor="ctr">
                    <a:lnL w="9525" cap="flat" cmpd="sng" algn="ctr">
                      <a:solidFill>
                        <a:srgbClr val="D6D9DE"/>
                      </a:solidFill>
                      <a:prstDash val="solid"/>
                      <a:round/>
                      <a:headEnd type="none" w="med" len="med"/>
                      <a:tailEnd type="none" w="med" len="med"/>
                    </a:lnL>
                    <a:lnR w="9525" cap="flat" cmpd="sng" algn="ctr">
                      <a:solidFill>
                        <a:srgbClr val="D6D9DE"/>
                      </a:solidFill>
                      <a:prstDash val="solid"/>
                      <a:round/>
                      <a:headEnd type="none" w="med" len="med"/>
                      <a:tailEnd type="none" w="med" len="med"/>
                    </a:lnR>
                    <a:lnT w="9525" cap="flat" cmpd="sng" algn="ctr">
                      <a:solidFill>
                        <a:srgbClr val="D6D9DE"/>
                      </a:solidFill>
                      <a:prstDash val="solid"/>
                      <a:round/>
                      <a:headEnd type="none" w="med" len="med"/>
                      <a:tailEnd type="none" w="med" len="med"/>
                    </a:lnT>
                    <a:lnB w="9525" cap="flat" cmpd="sng" algn="ctr">
                      <a:solidFill>
                        <a:srgbClr val="D6D9DE"/>
                      </a:solidFill>
                      <a:prstDash val="solid"/>
                      <a:round/>
                      <a:headEnd type="none" w="med" len="med"/>
                      <a:tailEnd type="none" w="med" len="med"/>
                    </a:lnB>
                    <a:solidFill>
                      <a:srgbClr val="F4F6F9"/>
                    </a:solidFill>
                  </a:tcPr>
                </a:tc>
              </a:tr>
            </a:tbl>
          </a:graphicData>
        </a:graphic>
      </p:graphicFrame>
      <p:sp>
        <p:nvSpPr>
          <p:cNvPr id="6" name="Text 3"/>
          <p:cNvSpPr/>
          <p:nvPr/>
        </p:nvSpPr>
        <p:spPr>
          <a:xfrm>
            <a:off x="457200" y="5029200"/>
            <a:ext cx="11247120" cy="365760"/>
          </a:xfrm>
          <a:prstGeom prst="rect">
            <a:avLst/>
          </a:prstGeom>
          <a:noFill/>
        </p:spPr>
        <p:txBody>
          <a:bodyPr wrap="square" rtlCol="0" anchor="ctr"/>
          <a:lstStyle/>
          <a:p>
            <a:pPr marL="0" indent="0">
              <a:buNone/>
            </a:pPr>
            <a:r>
              <a:rPr lang="en-US" sz="1200" i="1" dirty="0">
                <a:solidFill>
                  <a:srgbClr val="6B7280"/>
                </a:solidFill>
                <a:latin typeface="Arial" panose="020B0604020202020204" pitchFamily="34" charset="0"/>
                <a:ea typeface="Arial" panose="020B0604020202020204" pitchFamily="34" charset="-122"/>
                <a:cs typeface="Arial" panose="020B0604020202020204" pitchFamily="34" charset="-120"/>
              </a:rPr>
              <a:t>Full ID-by-ID traceability table is in docs/REQUIREMENTS.md in the repo.</a:t>
            </a:r>
            <a:endParaRPr lang="en-US" sz="120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
        <p:nvSpPr>
          <p:cNvPr id="7" name="Text 4"/>
          <p:cNvSpPr/>
          <p:nvPr/>
        </p:nvSpPr>
        <p:spPr>
          <a:xfrm>
            <a:off x="548640" y="4191635"/>
            <a:ext cx="11094415" cy="548640"/>
          </a:xfrm>
          <a:prstGeom prst="rect">
            <a:avLst/>
          </a:prstGeom>
          <a:noFill/>
        </p:spPr>
        <p:txBody>
          <a:bodyPr wrap="square" rtlCol="0" anchor="ctr"/>
          <a:lstStyle/>
          <a:p>
            <a:pPr marL="0" indent="0" algn="ctr">
              <a:buNone/>
            </a:pPr>
            <a:r>
              <a:rPr lang="en-US" sz="1700" b="1" dirty="0">
                <a:solidFill>
                  <a:schemeClr val="tx1"/>
                </a:solidFill>
                <a:latin typeface="Helvetica" pitchFamily="34" charset="0"/>
                <a:ea typeface="Helvetica" pitchFamily="34" charset="-122"/>
                <a:cs typeface="Helvetica" pitchFamily="34" charset="-120"/>
              </a:rPr>
              <a:t>Requirement  →  Architecture  →  Implementation  →  Test</a:t>
            </a:r>
            <a:endParaRPr lang="en-US" sz="1700" b="1" dirty="0">
              <a:solidFill>
                <a:schemeClr val="tx1"/>
              </a:solidFill>
              <a:latin typeface="Helvetica" pitchFamily="34" charset="0"/>
              <a:ea typeface="Helvetica" pitchFamily="34" charset="-122"/>
              <a:cs typeface="Helvetica" pitchFamily="34" charset="-12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GITHUB</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algn="l">
              <a:buClrTx/>
              <a:buSzTx/>
              <a:buFontTx/>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Repository</a:t>
            </a:r>
            <a:endPar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endParaRPr>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nvSpPr>
        <p:spPr>
          <a:xfrm>
            <a:off x="457200" y="1828800"/>
            <a:ext cx="11247120" cy="1051560"/>
          </a:xfrm>
          <a:prstGeom prst="roundRect">
            <a:avLst>
              <a:gd name="adj" fmla="val 6957"/>
            </a:avLst>
          </a:prstGeom>
          <a:solidFill>
            <a:srgbClr val="F4F6F9"/>
          </a:solidFill>
          <a:ln w="19050">
            <a:solidFill>
              <a:srgbClr val="44546A"/>
            </a:solidFill>
            <a:prstDash val="solid"/>
          </a:ln>
        </p:spPr>
      </p:sp>
      <p:sp>
        <p:nvSpPr>
          <p:cNvPr id="6" name="Text 4"/>
          <p:cNvSpPr/>
          <p:nvPr/>
        </p:nvSpPr>
        <p:spPr>
          <a:xfrm>
            <a:off x="731520" y="2011680"/>
            <a:ext cx="10698480" cy="502920"/>
          </a:xfrm>
          <a:prstGeom prst="rect">
            <a:avLst/>
          </a:prstGeom>
          <a:noFill/>
        </p:spPr>
        <p:txBody>
          <a:bodyPr wrap="square" rtlCol="0" anchor="ctr"/>
          <a:lstStyle/>
          <a:p>
            <a:pPr marL="0" indent="0">
              <a:buNone/>
            </a:pPr>
            <a:r>
              <a:rPr lang="en-US" altLang="en-GB" sz="1700" dirty="0">
                <a:latin typeface="Consolas" panose="020B0609020204030204" pitchFamily="34" charset="0"/>
                <a:cs typeface="Consolas" panose="020B0609020204030204" pitchFamily="34" charset="0"/>
                <a:hlinkClick r:id="rId1" action="ppaction://hlinkfile"/>
              </a:rPr>
              <a:t>https://github.com/RajarajeswariMani/Temperature-Monitoring-and-Visualization-System</a:t>
            </a:r>
            <a:endParaRPr lang="en-US" altLang="en-GB" sz="1700" dirty="0">
              <a:latin typeface="Consolas" panose="020B0609020204030204" pitchFamily="34" charset="0"/>
              <a:cs typeface="Consolas" panose="020B0609020204030204" pitchFamily="34" charset="0"/>
            </a:endParaRPr>
          </a:p>
        </p:txBody>
      </p:sp>
      <p:sp>
        <p:nvSpPr>
          <p:cNvPr id="7" name="Text 5"/>
          <p:cNvSpPr/>
          <p:nvPr/>
        </p:nvSpPr>
        <p:spPr>
          <a:xfrm>
            <a:off x="731520" y="2514600"/>
            <a:ext cx="10698480" cy="274320"/>
          </a:xfrm>
          <a:prstGeom prst="rect">
            <a:avLst/>
          </a:prstGeom>
          <a:noFill/>
        </p:spPr>
        <p:txBody>
          <a:bodyPr wrap="square" rtlCol="0" anchor="ctr"/>
          <a:lstStyle/>
          <a:p>
            <a:pPr marL="0" indent="0">
              <a:buNone/>
            </a:pPr>
            <a:r>
              <a:rPr lang="en-US" sz="1100" i="1" dirty="0">
                <a:solidFill>
                  <a:srgbClr val="6B7280"/>
                </a:solidFill>
                <a:latin typeface="Arial" panose="020B0604020202020204" pitchFamily="34" charset="0"/>
                <a:ea typeface="Arial" panose="020B0604020202020204" pitchFamily="34" charset="-122"/>
                <a:cs typeface="Arial" panose="020B0604020202020204" pitchFamily="34" charset="-120"/>
              </a:rPr>
              <a:t>Public repository</a:t>
            </a:r>
            <a:endParaRPr lang="en-US" sz="1100" dirty="0"/>
          </a:p>
        </p:txBody>
      </p:sp>
      <p:sp>
        <p:nvSpPr>
          <p:cNvPr id="8" name="Text 6"/>
          <p:cNvSpPr/>
          <p:nvPr/>
        </p:nvSpPr>
        <p:spPr>
          <a:xfrm>
            <a:off x="457200" y="3108960"/>
            <a:ext cx="11247120" cy="2743200"/>
          </a:xfrm>
          <a:prstGeom prst="rect">
            <a:avLst/>
          </a:prstGeom>
          <a:noFill/>
        </p:spPr>
        <p:txBody>
          <a:bodyPr wrap="square" rtlCol="0" anchor="t"/>
          <a:lstStyle/>
          <a:p>
            <a:pPr marL="228600" indent="-228600">
              <a:spcAft>
                <a:spcPts val="10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Public repository — code (c/, cpp/), diagrams (docs/diagrams/), docs (README, REQUIREMENTS, TEST_PLAN), and this presentation, all in one place</a:t>
            </a:r>
            <a:endParaRPr lang="en-US" sz="1450" dirty="0"/>
          </a:p>
          <a:p>
            <a:pPr marL="228600" indent="-228600">
              <a:spcAft>
                <a:spcPts val="10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Builds from a clean clone with the documented commands (make in c/ and cpp/, or CMake for C++)</a:t>
            </a:r>
            <a:endParaRPr lang="en-US" sz="1450" dirty="0"/>
          </a:p>
          <a:p>
            <a:pPr marL="228600" indent="-228600">
              <a:spcAft>
                <a:spcPts val="10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GitHub Actions runs the full build + test suite on every push, so the green checkmark is live proof it still works</a:t>
            </a:r>
            <a:endParaRPr lang="en-US" sz="1450" dirty="0"/>
          </a:p>
          <a:p>
            <a:pPr marL="228600" indent="-228600">
              <a:spcAft>
                <a:spcPts val="1000"/>
              </a:spcAft>
              <a:buSzPct val="100000"/>
              <a:buChar char="•"/>
            </a:pPr>
            <a:r>
              <a:rPr lang="en-US" sz="1450" dirty="0">
                <a:solidFill>
                  <a:srgbClr val="2B2F36"/>
                </a:solidFill>
                <a:latin typeface="Arial" panose="020B0604020202020204" pitchFamily="34" charset="0"/>
                <a:ea typeface="Arial" panose="020B0604020202020204" pitchFamily="34" charset="-122"/>
                <a:cs typeface="Arial" panose="020B0604020202020204" pitchFamily="34" charset="-120"/>
              </a:rPr>
              <a:t>Link shared with you ≥ 24h ahead of this interview, per the task's own requirement</a:t>
            </a:r>
            <a:endParaRPr lang="en-US" sz="1450" dirty="0"/>
          </a:p>
        </p:txBody>
      </p:sp>
      <p:sp>
        <p:nvSpPr>
          <p:cNvPr id="25"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713232"/>
            <a:ext cx="11430000" cy="274320"/>
          </a:xfrm>
          <a:prstGeom prst="rect">
            <a:avLst/>
          </a:prstGeom>
          <a:noFill/>
        </p:spPr>
        <p:txBody>
          <a:bodyPr wrap="square" rtlCol="0" anchor="ctr"/>
          <a:lstStyle/>
          <a:p>
            <a:pPr marL="0" indent="0">
              <a:buNone/>
            </a:pPr>
            <a:r>
              <a:rPr lang="en-US" sz="1100" b="1" kern="0" spc="100" dirty="0">
                <a:solidFill>
                  <a:srgbClr val="44546A"/>
                </a:solidFill>
                <a:latin typeface="Arial" panose="020B0604020202020204" pitchFamily="34" charset="0"/>
                <a:ea typeface="Arial" panose="020B0604020202020204" pitchFamily="34" charset="-122"/>
                <a:cs typeface="Arial" panose="020B0604020202020204" pitchFamily="34" charset="-120"/>
              </a:rPr>
              <a:t>CLOSING</a:t>
            </a:r>
            <a:endParaRPr lang="en-US" sz="1100" dirty="0"/>
          </a:p>
        </p:txBody>
      </p:sp>
      <p:sp>
        <p:nvSpPr>
          <p:cNvPr id="3" name="Text 1"/>
          <p:cNvSpPr/>
          <p:nvPr/>
        </p:nvSpPr>
        <p:spPr>
          <a:xfrm>
            <a:off x="365760" y="932688"/>
            <a:ext cx="11430000" cy="502920"/>
          </a:xfrm>
          <a:prstGeom prst="rect">
            <a:avLst/>
          </a:prstGeom>
          <a:noFill/>
        </p:spPr>
        <p:txBody>
          <a:bodyPr wrap="square" rtlCol="0" anchor="ctr"/>
          <a:lstStyle/>
          <a:p>
            <a:pPr marL="0" indent="0">
              <a:buNone/>
            </a:pPr>
            <a:r>
              <a:rPr lang="en-US" sz="2500" b="1" dirty="0">
                <a:solidFill>
                  <a:srgbClr val="2B2F36"/>
                </a:solidFill>
                <a:latin typeface="Arial" panose="020B0604020202020204" pitchFamily="34" charset="0"/>
                <a:ea typeface="Arial" panose="020B0604020202020204" pitchFamily="34" charset="-122"/>
                <a:cs typeface="Arial" panose="020B0604020202020204" pitchFamily="34" charset="-120"/>
              </a:rPr>
              <a:t>Key Engineering Takeaways</a:t>
            </a:r>
            <a:endParaRPr lang="en-US" sz="2500" dirty="0"/>
          </a:p>
        </p:txBody>
      </p:sp>
      <p:sp>
        <p:nvSpPr>
          <p:cNvPr id="4" name="Shape 2"/>
          <p:cNvSpPr/>
          <p:nvPr/>
        </p:nvSpPr>
        <p:spPr>
          <a:xfrm>
            <a:off x="365760" y="1444752"/>
            <a:ext cx="11430000" cy="0"/>
          </a:xfrm>
          <a:prstGeom prst="line">
            <a:avLst/>
          </a:prstGeom>
          <a:noFill/>
          <a:ln w="12700">
            <a:solidFill>
              <a:srgbClr val="D6D9DE"/>
            </a:solidFill>
            <a:prstDash val="solid"/>
          </a:ln>
        </p:spPr>
      </p:sp>
      <p:sp>
        <p:nvSpPr>
          <p:cNvPr id="5" name="Shape 3"/>
          <p:cNvSpPr/>
          <p:nvPr/>
        </p:nvSpPr>
        <p:spPr>
          <a:xfrm>
            <a:off x="457200" y="1691640"/>
            <a:ext cx="384048" cy="384048"/>
          </a:xfrm>
          <a:prstGeom prst="ellipse">
            <a:avLst/>
          </a:prstGeom>
          <a:solidFill>
            <a:srgbClr val="2B3648"/>
          </a:solidFill>
        </p:spPr>
      </p:sp>
      <p:sp>
        <p:nvSpPr>
          <p:cNvPr id="6" name="Text 4"/>
          <p:cNvSpPr/>
          <p:nvPr/>
        </p:nvSpPr>
        <p:spPr>
          <a:xfrm>
            <a:off x="457200" y="1691640"/>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500" dirty="0"/>
          </a:p>
        </p:txBody>
      </p:sp>
      <p:sp>
        <p:nvSpPr>
          <p:cNvPr id="7" name="Text 5"/>
          <p:cNvSpPr/>
          <p:nvPr/>
        </p:nvSpPr>
        <p:spPr>
          <a:xfrm>
            <a:off x="1005840" y="1664208"/>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Keep the 100µs ISR minimal and deterministic</a:t>
            </a:r>
            <a:endParaRPr lang="en-US" sz="1450" dirty="0"/>
          </a:p>
        </p:txBody>
      </p:sp>
      <p:sp>
        <p:nvSpPr>
          <p:cNvPr id="8" name="Text 6"/>
          <p:cNvSpPr/>
          <p:nvPr/>
        </p:nvSpPr>
        <p:spPr>
          <a:xfrm>
            <a:off x="1005840" y="1947672"/>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One HAL read, two variable writes — nothing else runs in interrupt context.</a:t>
            </a:r>
            <a:endParaRPr lang="en-US" sz="1150" dirty="0"/>
          </a:p>
        </p:txBody>
      </p:sp>
      <p:sp>
        <p:nvSpPr>
          <p:cNvPr id="9" name="Shape 7"/>
          <p:cNvSpPr/>
          <p:nvPr/>
        </p:nvSpPr>
        <p:spPr>
          <a:xfrm>
            <a:off x="457200" y="2350008"/>
            <a:ext cx="384048" cy="384048"/>
          </a:xfrm>
          <a:prstGeom prst="ellipse">
            <a:avLst/>
          </a:prstGeom>
          <a:solidFill>
            <a:srgbClr val="2B3648"/>
          </a:solidFill>
        </p:spPr>
      </p:sp>
      <p:sp>
        <p:nvSpPr>
          <p:cNvPr id="10" name="Text 8"/>
          <p:cNvSpPr/>
          <p:nvPr/>
        </p:nvSpPr>
        <p:spPr>
          <a:xfrm>
            <a:off x="457200" y="2350008"/>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500" dirty="0"/>
          </a:p>
        </p:txBody>
      </p:sp>
      <p:sp>
        <p:nvSpPr>
          <p:cNvPr id="11" name="Text 9"/>
          <p:cNvSpPr/>
          <p:nvPr/>
        </p:nvSpPr>
        <p:spPr>
          <a:xfrm>
            <a:off x="1005840" y="2322576"/>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Separate real-time acquisition from application processing</a:t>
            </a:r>
            <a:endParaRPr lang="en-US" sz="1450" dirty="0"/>
          </a:p>
        </p:txBody>
      </p:sp>
      <p:sp>
        <p:nvSpPr>
          <p:cNvPr id="12" name="Text 10"/>
          <p:cNvSpPr/>
          <p:nvPr/>
        </p:nvSpPr>
        <p:spPr>
          <a:xfrm>
            <a:off x="1005840" y="2606040"/>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The sample-ready flag is the explicit hand-off point between the two.</a:t>
            </a:r>
            <a:endParaRPr lang="en-US" sz="1150" dirty="0"/>
          </a:p>
        </p:txBody>
      </p:sp>
      <p:sp>
        <p:nvSpPr>
          <p:cNvPr id="13" name="Shape 11"/>
          <p:cNvSpPr/>
          <p:nvPr/>
        </p:nvSpPr>
        <p:spPr>
          <a:xfrm>
            <a:off x="457200" y="3008376"/>
            <a:ext cx="384048" cy="384048"/>
          </a:xfrm>
          <a:prstGeom prst="ellipse">
            <a:avLst/>
          </a:prstGeom>
          <a:solidFill>
            <a:srgbClr val="2B3648"/>
          </a:solidFill>
        </p:spPr>
      </p:sp>
      <p:sp>
        <p:nvSpPr>
          <p:cNvPr id="14" name="Text 12"/>
          <p:cNvSpPr/>
          <p:nvPr/>
        </p:nvSpPr>
        <p:spPr>
          <a:xfrm>
            <a:off x="457200" y="3008376"/>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500" dirty="0"/>
          </a:p>
        </p:txBody>
      </p:sp>
      <p:sp>
        <p:nvSpPr>
          <p:cNvPr id="15" name="Text 13"/>
          <p:cNvSpPr/>
          <p:nvPr/>
        </p:nvSpPr>
        <p:spPr>
          <a:xfrm>
            <a:off x="1005840" y="2980944"/>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Abstract hardware so the application can run on a PC</a:t>
            </a:r>
            <a:endParaRPr lang="en-US" sz="1450" dirty="0"/>
          </a:p>
        </p:txBody>
      </p:sp>
      <p:sp>
        <p:nvSpPr>
          <p:cNvPr id="16" name="Text 14"/>
          <p:cNvSpPr/>
          <p:nvPr/>
        </p:nvSpPr>
        <p:spPr>
          <a:xfrm>
            <a:off x="1005840" y="3264408"/>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IAdc / IGpio / IEeprom (and their C equivalents) mean no target hardware is required to demonstrate or test the logic.</a:t>
            </a:r>
            <a:endParaRPr lang="en-US" sz="1150" dirty="0"/>
          </a:p>
        </p:txBody>
      </p:sp>
      <p:sp>
        <p:nvSpPr>
          <p:cNvPr id="17" name="Shape 15"/>
          <p:cNvSpPr/>
          <p:nvPr/>
        </p:nvSpPr>
        <p:spPr>
          <a:xfrm>
            <a:off x="457200" y="3666744"/>
            <a:ext cx="384048" cy="384048"/>
          </a:xfrm>
          <a:prstGeom prst="ellipse">
            <a:avLst/>
          </a:prstGeom>
          <a:solidFill>
            <a:srgbClr val="2B3648"/>
          </a:solidFill>
        </p:spPr>
      </p:sp>
      <p:sp>
        <p:nvSpPr>
          <p:cNvPr id="18" name="Text 16"/>
          <p:cNvSpPr/>
          <p:nvPr/>
        </p:nvSpPr>
        <p:spPr>
          <a:xfrm>
            <a:off x="457200" y="3666744"/>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500" dirty="0"/>
          </a:p>
        </p:txBody>
      </p:sp>
      <p:sp>
        <p:nvSpPr>
          <p:cNvPr id="19" name="Text 17"/>
          <p:cNvSpPr/>
          <p:nvPr/>
        </p:nvSpPr>
        <p:spPr>
          <a:xfrm>
            <a:off x="1005840" y="3639312"/>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Keep revision-specific conversion isolated</a:t>
            </a:r>
            <a:endParaRPr lang="en-US" sz="1450" dirty="0"/>
          </a:p>
        </p:txBody>
      </p:sp>
      <p:sp>
        <p:nvSpPr>
          <p:cNvPr id="20" name="Text 18"/>
          <p:cNvSpPr/>
          <p:nvPr/>
        </p:nvSpPr>
        <p:spPr>
          <a:xfrm>
            <a:off x="1005840" y="3922776"/>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Strategy pattern (C++) / single conversion function (C) instead of Rev-A/Rev-B conditionals spread through the code.</a:t>
            </a:r>
            <a:endParaRPr lang="en-US" sz="1150" dirty="0"/>
          </a:p>
        </p:txBody>
      </p:sp>
      <p:sp>
        <p:nvSpPr>
          <p:cNvPr id="21" name="Shape 19"/>
          <p:cNvSpPr/>
          <p:nvPr/>
        </p:nvSpPr>
        <p:spPr>
          <a:xfrm>
            <a:off x="457200" y="4325112"/>
            <a:ext cx="384048" cy="384048"/>
          </a:xfrm>
          <a:prstGeom prst="ellipse">
            <a:avLst/>
          </a:prstGeom>
          <a:solidFill>
            <a:srgbClr val="2B3648"/>
          </a:solidFill>
        </p:spPr>
      </p:sp>
      <p:sp>
        <p:nvSpPr>
          <p:cNvPr id="22" name="Text 20"/>
          <p:cNvSpPr/>
          <p:nvPr/>
        </p:nvSpPr>
        <p:spPr>
          <a:xfrm>
            <a:off x="457200" y="4325112"/>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500" dirty="0"/>
          </a:p>
        </p:txBody>
      </p:sp>
      <p:sp>
        <p:nvSpPr>
          <p:cNvPr id="23" name="Text 21"/>
          <p:cNvSpPr/>
          <p:nvPr/>
        </p:nvSpPr>
        <p:spPr>
          <a:xfrm>
            <a:off x="1005840" y="4297680"/>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Implement the functional baseline in C first, then re-architect in C++</a:t>
            </a:r>
            <a:endParaRPr lang="en-US" sz="1450" dirty="0"/>
          </a:p>
        </p:txBody>
      </p:sp>
      <p:sp>
        <p:nvSpPr>
          <p:cNvPr id="24" name="Text 22"/>
          <p:cNvSpPr/>
          <p:nvPr/>
        </p:nvSpPr>
        <p:spPr>
          <a:xfrm>
            <a:off x="1005840" y="4581144"/>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Same behavior, two paradigms — makes the OOP benefits concrete rather than theoretical.</a:t>
            </a:r>
            <a:endParaRPr lang="en-US" sz="1150" dirty="0"/>
          </a:p>
        </p:txBody>
      </p:sp>
      <p:sp>
        <p:nvSpPr>
          <p:cNvPr id="25" name="Shape 23"/>
          <p:cNvSpPr/>
          <p:nvPr/>
        </p:nvSpPr>
        <p:spPr>
          <a:xfrm>
            <a:off x="457200" y="4983480"/>
            <a:ext cx="384048" cy="384048"/>
          </a:xfrm>
          <a:prstGeom prst="ellipse">
            <a:avLst/>
          </a:prstGeom>
          <a:solidFill>
            <a:srgbClr val="2B3648"/>
          </a:solidFill>
        </p:spPr>
      </p:sp>
      <p:sp>
        <p:nvSpPr>
          <p:cNvPr id="26" name="Text 24"/>
          <p:cNvSpPr/>
          <p:nvPr/>
        </p:nvSpPr>
        <p:spPr>
          <a:xfrm>
            <a:off x="457200" y="4983480"/>
            <a:ext cx="384048" cy="384048"/>
          </a:xfrm>
          <a:prstGeom prst="rect">
            <a:avLst/>
          </a:prstGeom>
          <a:noFill/>
        </p:spPr>
        <p:txBody>
          <a:bodyPr wrap="square" rtlCol="0" anchor="ctr"/>
          <a:lstStyle/>
          <a:p>
            <a:pPr marL="0" indent="0" algn="ctr">
              <a:buNone/>
            </a:pPr>
            <a:r>
              <a:rPr lang="en-US" sz="1500" b="1" dirty="0">
                <a:solidFill>
                  <a:srgbClr val="FFFFFF"/>
                </a:solidFill>
                <a:latin typeface="Arial" panose="020B0604020202020204" pitchFamily="34" charset="0"/>
                <a:ea typeface="Arial" panose="020B0604020202020204" pitchFamily="34" charset="-122"/>
                <a:cs typeface="Arial" panose="020B0604020202020204" pitchFamily="34" charset="-120"/>
              </a:rPr>
              <a:t>6</a:t>
            </a:r>
            <a:endParaRPr lang="en-US" sz="1500" dirty="0"/>
          </a:p>
        </p:txBody>
      </p:sp>
      <p:sp>
        <p:nvSpPr>
          <p:cNvPr id="27" name="Text 25"/>
          <p:cNvSpPr/>
          <p:nvPr/>
        </p:nvSpPr>
        <p:spPr>
          <a:xfrm>
            <a:off x="1005840" y="4956048"/>
            <a:ext cx="10698480" cy="292608"/>
          </a:xfrm>
          <a:prstGeom prst="rect">
            <a:avLst/>
          </a:prstGeom>
          <a:noFill/>
        </p:spPr>
        <p:txBody>
          <a:bodyPr wrap="square" rtlCol="0" anchor="ctr"/>
          <a:lstStyle/>
          <a:p>
            <a:pPr marL="0" indent="0">
              <a:buNone/>
            </a:pPr>
            <a:r>
              <a:rPr lang="en-US" sz="1450" b="1" dirty="0">
                <a:solidFill>
                  <a:srgbClr val="2B2F36"/>
                </a:solidFill>
                <a:latin typeface="Arial" panose="020B0604020202020204" pitchFamily="34" charset="0"/>
                <a:ea typeface="Arial" panose="020B0604020202020204" pitchFamily="34" charset="-122"/>
                <a:cs typeface="Arial" panose="020B0604020202020204" pitchFamily="34" charset="-120"/>
              </a:rPr>
              <a:t>Verify behavior through explicit requirements and tests</a:t>
            </a:r>
            <a:endParaRPr lang="en-US" sz="1450" dirty="0"/>
          </a:p>
        </p:txBody>
      </p:sp>
      <p:sp>
        <p:nvSpPr>
          <p:cNvPr id="28" name="Text 26"/>
          <p:cNvSpPr/>
          <p:nvPr/>
        </p:nvSpPr>
        <p:spPr>
          <a:xfrm>
            <a:off x="1005840" y="5239512"/>
            <a:ext cx="10698480" cy="384048"/>
          </a:xfrm>
          <a:prstGeom prst="rect">
            <a:avLst/>
          </a:prstGeom>
          <a:noFill/>
        </p:spPr>
        <p:txBody>
          <a:bodyPr wrap="square" rtlCol="0" anchor="ctr"/>
          <a:lstStyle/>
          <a:p>
            <a:pPr marL="0" indent="0">
              <a:buNone/>
            </a:pPr>
            <a:r>
              <a:rPr lang="en-US" sz="1150" dirty="0">
                <a:solidFill>
                  <a:srgbClr val="6B7280"/>
                </a:solidFill>
                <a:latin typeface="Arial" panose="020B0604020202020204" pitchFamily="34" charset="0"/>
                <a:ea typeface="Arial" panose="020B0604020202020204" pitchFamily="34" charset="-122"/>
                <a:cs typeface="Arial" panose="020B0604020202020204" pitchFamily="34" charset="-120"/>
              </a:rPr>
              <a:t>Every requirement ID traces to a design element and at least one automated or reviewed test case.</a:t>
            </a:r>
            <a:endParaRPr lang="en-US" sz="1150" dirty="0"/>
          </a:p>
        </p:txBody>
      </p:sp>
      <p:sp>
        <p:nvSpPr>
          <p:cNvPr id="29" name="Slide Number Placeholder 0"/>
          <p:cNvSpPr>
            <a:spLocks noGrp="1"/>
          </p:cNvSpPr>
          <p:nvPr>
            <p:ph type="sldNum" sz="quarter" idx="4294967295"/>
          </p:nvPr>
        </p:nvSpPr>
        <p:spPr>
          <a:xfrm>
            <a:off x="11640312" y="6656832"/>
            <a:ext cx="800000" cy="300000"/>
          </a:xfrm>
          <a:prstGeom prst="rect">
            <a:avLst/>
          </a:prstGeom>
        </p:spPr>
        <p:txBody>
          <a:bodyPr/>
          <a:lstStyle>
            <a:lvl1pPr>
              <a:defRPr sz="1000">
                <a:solidFill>
                  <a:srgbClr val="6B7280"/>
                </a:solidFill>
              </a:defRPr>
            </a:lvl1pPr>
          </a:lstStyle>
          <a:p>
            <a:pPr algn="l"/>
            <a:fld id="{F7021451-1387-4CA6-816F-3879F97B5CBC}" type="slidenum">
              <a:rPr lang="en-US" b="0"/>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2103120"/>
            <a:ext cx="7315200" cy="640080"/>
          </a:xfrm>
          <a:prstGeom prst="rect">
            <a:avLst/>
          </a:prstGeom>
          <a:noFill/>
        </p:spPr>
        <p:txBody>
          <a:bodyPr wrap="square" rtlCol="0" anchor="ctr"/>
          <a:lstStyle/>
          <a:p>
            <a:pPr marL="0" indent="0">
              <a:buNone/>
            </a:pPr>
            <a:r>
              <a:rPr lang="en-US" sz="3200" b="1" dirty="0">
                <a:solidFill>
                  <a:srgbClr val="2B2F36"/>
                </a:solidFill>
                <a:latin typeface="Arial" panose="020B0604020202020204" pitchFamily="34" charset="0"/>
                <a:ea typeface="Arial" panose="020B0604020202020204" pitchFamily="34" charset="-122"/>
                <a:cs typeface="Arial" panose="020B0604020202020204" pitchFamily="34" charset="-120"/>
              </a:rPr>
              <a:t>Thank You</a:t>
            </a:r>
            <a:endParaRPr lang="en-US" sz="3200" dirty="0"/>
          </a:p>
        </p:txBody>
      </p:sp>
      <p:sp>
        <p:nvSpPr>
          <p:cNvPr id="3" name="Shape 1"/>
          <p:cNvSpPr/>
          <p:nvPr/>
        </p:nvSpPr>
        <p:spPr>
          <a:xfrm>
            <a:off x="822960" y="2743200"/>
            <a:ext cx="2743200" cy="0"/>
          </a:xfrm>
          <a:prstGeom prst="line">
            <a:avLst/>
          </a:prstGeom>
          <a:noFill/>
          <a:ln w="25400">
            <a:solidFill>
              <a:srgbClr val="44546A"/>
            </a:solidFill>
            <a:prstDash val="solid"/>
          </a:ln>
        </p:spPr>
      </p:sp>
      <p:sp>
        <p:nvSpPr>
          <p:cNvPr id="4" name="Text 2"/>
          <p:cNvSpPr/>
          <p:nvPr/>
        </p:nvSpPr>
        <p:spPr>
          <a:xfrm>
            <a:off x="822960" y="2926080"/>
            <a:ext cx="9601200" cy="548640"/>
          </a:xfrm>
          <a:prstGeom prst="rect">
            <a:avLst/>
          </a:prstGeom>
          <a:noFill/>
        </p:spPr>
        <p:txBody>
          <a:bodyPr wrap="square" rtlCol="0" anchor="ctr"/>
          <a:lstStyle/>
          <a:p>
            <a:pPr marL="0" indent="0">
              <a:buNone/>
            </a:pPr>
            <a:r>
              <a:rPr lang="en-US" sz="1500" dirty="0">
                <a:solidFill>
                  <a:srgbClr val="6B7280"/>
                </a:solidFill>
                <a:latin typeface="Arial" panose="020B0604020202020204" pitchFamily="34" charset="0"/>
                <a:ea typeface="Arial" panose="020B0604020202020204" pitchFamily="34" charset="-122"/>
                <a:cs typeface="Arial" panose="020B0604020202020204" pitchFamily="34" charset="-120"/>
              </a:rPr>
              <a:t>Happy to walk through any part of the code, diagrams, or test results in detail.</a:t>
            </a:r>
            <a:endParaRPr lang="en-US" sz="1500" dirty="0"/>
          </a:p>
        </p:txBody>
      </p:sp>
    </p:spTree>
  </p:cSld>
  <p:clrMapOvr>
    <a:masterClrMapping/>
  </p:clrMapOvr>
</p:sld>
</file>

<file path=ppt/tags/tag1.xml><?xml version="1.0" encoding="utf-8"?>
<p:tagLst xmlns:p="http://schemas.openxmlformats.org/presentationml/2006/main">
  <p:tag name="KSO_WM_DIAGRAM_VIRTUALLY_FRAME" val="{&quot;height&quot;:331.2,&quot;left&quot;:43.2,&quot;top&quot;:144,&quot;width&quot;:873.5759842519685}"/>
</p:tagLst>
</file>

<file path=ppt/tags/tag2.xml><?xml version="1.0" encoding="utf-8"?>
<p:tagLst xmlns:p="http://schemas.openxmlformats.org/presentationml/2006/main">
  <p:tag name="KSO_WM_DIAGRAM_VIRTUALLY_FRAME" val="{&quot;height&quot;:331.2,&quot;left&quot;:43.2,&quot;top&quot;:144,&quot;width&quot;:873.5759842519685}"/>
</p:tagLst>
</file>

<file path=ppt/tags/tag3.xml><?xml version="1.0" encoding="utf-8"?>
<p:tagLst xmlns:p="http://schemas.openxmlformats.org/presentationml/2006/main">
  <p:tag name="KSO_WM_DIAGRAM_VIRTUALLY_FRAME" val="{&quot;height&quot;:331.2,&quot;left&quot;:43.2,&quot;top&quot;:144,&quot;width&quot;:873.5759842519685}"/>
</p:tagLst>
</file>

<file path=ppt/tags/tag4.xml><?xml version="1.0" encoding="utf-8"?>
<p:tagLst xmlns:p="http://schemas.openxmlformats.org/presentationml/2006/main">
  <p:tag name="KSO_WM_DIAGRAM_VIRTUALLY_FRAME" val="{&quot;height&quot;:331.2,&quot;left&quot;:43.2,&quot;top&quot;:144,&quot;width&quot;:873.5759842519685}"/>
</p:tagLst>
</file>

<file path=ppt/tags/tag5.xml><?xml version="1.0" encoding="utf-8"?>
<p:tagLst xmlns:p="http://schemas.openxmlformats.org/presentationml/2006/main">
  <p:tag name="KSO_WM_DIAGRAM_VIRTUALLY_FRAME" val="{&quot;height&quot;:331.2,&quot;left&quot;:43.2,&quot;top&quot;:144,&quot;width&quot;:873.5759842519685}"/>
</p:tagLst>
</file>

<file path=ppt/tags/tag6.xml><?xml version="1.0" encoding="utf-8"?>
<p:tagLst xmlns:p="http://schemas.openxmlformats.org/presentationml/2006/main">
  <p:tag name="KSO_WM_DIAGRAM_VIRTUALLY_FRAME" val="{&quot;height&quot;:331.2,&quot;left&quot;:43.2,&quot;top&quot;:144,&quot;width&quot;:873.5759842519685}"/>
</p:tagLst>
</file>

<file path=ppt/tags/tag7.xml><?xml version="1.0" encoding="utf-8"?>
<p:tagLst xmlns:p="http://schemas.openxmlformats.org/presentationml/2006/main">
  <p:tag name="KSO_WM_DIAGRAM_VIRTUALLY_FRAME" val="{&quot;height&quot;:331.2,&quot;left&quot;:43.2,&quot;top&quot;:144,&quot;width&quot;:873.5759842519685}"/>
</p:tagLst>
</file>

<file path=ppt/tags/tag8.xml><?xml version="1.0" encoding="utf-8"?>
<p:tagLst xmlns:p="http://schemas.openxmlformats.org/presentationml/2006/main">
  <p:tag name="KSO_WM_DIAGRAM_VIRTUALLY_FRAME" val="{&quot;height&quot;:331.2,&quot;left&quot;:43.2,&quot;top&quot;:144,&quot;width&quot;:873.5759842519685}"/>
</p:tagLst>
</file>

<file path=ppt/tags/tag9.xml><?xml version="1.0" encoding="utf-8"?>
<p:tagLst xmlns:p="http://schemas.openxmlformats.org/presentationml/2006/main">
  <p:tag name="KSO_WM_DIAGRAM_VIRTUALLY_FRAME" val="{&quot;height&quot;:331.2,&quot;left&quot;:43.2,&quot;top&quot;:144,&quot;width&quot;:873.5759842519685}"/>
</p:tagLst>
</file>

<file path=ppt/tags/tag10.xml><?xml version="1.0" encoding="utf-8"?>
<p:tagLst xmlns:p="http://schemas.openxmlformats.org/presentationml/2006/main">
  <p:tag name="KSO_WM_DIAGRAM_VIRTUALLY_FRAME" val="{&quot;height&quot;:354.96,&quot;left&quot;:36,&quot;top&quot;:131.04000000000002,&quot;width&quot;:885.6}"/>
</p:tagLst>
</file>

<file path=ppt/tags/tag11.xml><?xml version="1.0" encoding="utf-8"?>
<p:tagLst xmlns:p="http://schemas.openxmlformats.org/presentationml/2006/main">
  <p:tag name="KSO_WM_DIAGRAM_VIRTUALLY_FRAME" val="{&quot;height&quot;:354.96,&quot;left&quot;:36,&quot;top&quot;:131.04000000000002,&quot;width&quot;:885.6}"/>
</p:tagLst>
</file>

<file path=ppt/tags/tag12.xml><?xml version="1.0" encoding="utf-8"?>
<p:tagLst xmlns:p="http://schemas.openxmlformats.org/presentationml/2006/main">
  <p:tag name="KSO_WM_DIAGRAM_VIRTUALLY_FRAME" val="{&quot;height&quot;:354.96,&quot;left&quot;:36,&quot;top&quot;:131.04000000000002,&quot;width&quot;:885.6}"/>
</p:tagLst>
</file>

<file path=ppt/tags/tag13.xml><?xml version="1.0" encoding="utf-8"?>
<p:tagLst xmlns:p="http://schemas.openxmlformats.org/presentationml/2006/main">
  <p:tag name="KSO_WM_DIAGRAM_VIRTUALLY_FRAME" val="{&quot;height&quot;:354.96,&quot;left&quot;:36,&quot;top&quot;:131.04000000000002,&quot;width&quot;:885.6}"/>
</p:tagLst>
</file>

<file path=ppt/tags/tag14.xml><?xml version="1.0" encoding="utf-8"?>
<p:tagLst xmlns:p="http://schemas.openxmlformats.org/presentationml/2006/main">
  <p:tag name="KSO_WM_DIAGRAM_VIRTUALLY_FRAME" val="{&quot;height&quot;:354.96,&quot;left&quot;:36,&quot;top&quot;:131.04000000000002,&quot;width&quot;:885.6}"/>
</p:tagLst>
</file>

<file path=ppt/tags/tag15.xml><?xml version="1.0" encoding="utf-8"?>
<p:tagLst xmlns:p="http://schemas.openxmlformats.org/presentationml/2006/main">
  <p:tag name="KSO_WM_DIAGRAM_VIRTUALLY_FRAME" val="{&quot;height&quot;:354.96,&quot;left&quot;:36,&quot;top&quot;:131.04000000000002,&quot;width&quot;:885.6}"/>
</p:tagLst>
</file>

<file path=ppt/tags/tag16.xml><?xml version="1.0" encoding="utf-8"?>
<p:tagLst xmlns:p="http://schemas.openxmlformats.org/presentationml/2006/main">
  <p:tag name="KSO_WM_DIAGRAM_VIRTUALLY_FRAME" val="{&quot;height&quot;:354.96,&quot;left&quot;:36,&quot;top&quot;:131.04000000000002,&quot;width&quot;:885.6}"/>
</p:tagLst>
</file>

<file path=ppt/tags/tag17.xml><?xml version="1.0" encoding="utf-8"?>
<p:tagLst xmlns:p="http://schemas.openxmlformats.org/presentationml/2006/main">
  <p:tag name="KSO_WM_DIAGRAM_VIRTUALLY_FRAME" val="{&quot;height&quot;:354.96,&quot;left&quot;:36,&quot;top&quot;:131.04000000000002,&quot;width&quot;:885.6}"/>
</p:tagLst>
</file>

<file path=ppt/tags/tag18.xml><?xml version="1.0" encoding="utf-8"?>
<p:tagLst xmlns:p="http://schemas.openxmlformats.org/presentationml/2006/main">
  <p:tag name="KSO_WM_DIAGRAM_VIRTUALLY_FRAME" val="{&quot;height&quot;:354.96,&quot;left&quot;:36,&quot;top&quot;:131.04000000000002,&quot;width&quot;:885.6}"/>
</p:tagLst>
</file>

<file path=ppt/tags/tag19.xml><?xml version="1.0" encoding="utf-8"?>
<p:tagLst xmlns:p="http://schemas.openxmlformats.org/presentationml/2006/main">
  <p:tag name="KSO_WM_DIAGRAM_VIRTUALLY_FRAME" val="{&quot;height&quot;:354.96,&quot;left&quot;:36,&quot;top&quot;:131.04000000000002,&quot;width&quot;:885.6}"/>
</p:tagLst>
</file>

<file path=ppt/tags/tag20.xml><?xml version="1.0" encoding="utf-8"?>
<p:tagLst xmlns:p="http://schemas.openxmlformats.org/presentationml/2006/main">
  <p:tag name="KSO_WM_DIAGRAM_VIRTUALLY_FRAME" val="{&quot;height&quot;:354.96,&quot;left&quot;:36,&quot;top&quot;:131.04000000000002,&quot;width&quot;:885.6}"/>
</p:tagLst>
</file>

<file path=ppt/tags/tag21.xml><?xml version="1.0" encoding="utf-8"?>
<p:tagLst xmlns:p="http://schemas.openxmlformats.org/presentationml/2006/main">
  <p:tag name="KSO_WM_DIAGRAM_VIRTUALLY_FRAME" val="{&quot;height&quot;:354.96,&quot;left&quot;:36,&quot;top&quot;:131.04000000000002,&quot;width&quot;:885.6}"/>
</p:tagLst>
</file>

<file path=ppt/tags/tag22.xml><?xml version="1.0" encoding="utf-8"?>
<p:tagLst xmlns:p="http://schemas.openxmlformats.org/presentationml/2006/main">
  <p:tag name="KSO_WM_DIAGRAM_VIRTUALLY_FRAME" val="{&quot;height&quot;:354.96,&quot;left&quot;:36,&quot;top&quot;:131.04000000000002,&quot;width&quot;:885.6}"/>
</p:tagLst>
</file>

<file path=ppt/tags/tag23.xml><?xml version="1.0" encoding="utf-8"?>
<p:tagLst xmlns:p="http://schemas.openxmlformats.org/presentationml/2006/main">
  <p:tag name="KSO_WM_DIAGRAM_VIRTUALLY_FRAME" val="{&quot;height&quot;:354.96,&quot;left&quot;:36,&quot;top&quot;:131.04000000000002,&quot;width&quot;:885.6}"/>
</p:tagLst>
</file>

<file path=ppt/tags/tag24.xml><?xml version="1.0" encoding="utf-8"?>
<p:tagLst xmlns:p="http://schemas.openxmlformats.org/presentationml/2006/main">
  <p:tag name="KSO_WM_DIAGRAM_VIRTUALLY_FRAME" val="{&quot;height&quot;:354.96,&quot;left&quot;:36,&quot;top&quot;:131.04000000000002,&quot;width&quot;:885.6}"/>
</p:tagLst>
</file>

<file path=ppt/tags/tag25.xml><?xml version="1.0" encoding="utf-8"?>
<p:tagLst xmlns:p="http://schemas.openxmlformats.org/presentationml/2006/main">
  <p:tag name="KSO_WM_DIAGRAM_VIRTUALLY_FRAME" val="{&quot;height&quot;:354.96,&quot;left&quot;:36,&quot;top&quot;:131.04000000000002,&quot;width&quot;:885.6}"/>
</p:tagLst>
</file>

<file path=ppt/tags/tag26.xml><?xml version="1.0" encoding="utf-8"?>
<p:tagLst xmlns:p="http://schemas.openxmlformats.org/presentationml/2006/main">
  <p:tag name="KSO_WM_DIAGRAM_VIRTUALLY_FRAME" val="{&quot;height&quot;:354.96,&quot;left&quot;:36,&quot;top&quot;:131.04000000000002,&quot;width&quot;:885.6}"/>
</p:tagLst>
</file>

<file path=ppt/tags/tag27.xml><?xml version="1.0" encoding="utf-8"?>
<p:tagLst xmlns:p="http://schemas.openxmlformats.org/presentationml/2006/main">
  <p:tag name="KSO_WM_DIAGRAM_VIRTUALLY_FRAME" val="{&quot;height&quot;:354.96,&quot;left&quot;:36,&quot;top&quot;:131.04000000000002,&quot;width&quot;:885.6}"/>
</p:tagLst>
</file>

<file path=ppt/tags/tag28.xml><?xml version="1.0" encoding="utf-8"?>
<p:tagLst xmlns:p="http://schemas.openxmlformats.org/presentationml/2006/main">
  <p:tag name="KSO_WM_DIAGRAM_VIRTUALLY_FRAME" val="{&quot;height&quot;:354.96,&quot;left&quot;:36,&quot;top&quot;:131.04000000000002,&quot;width&quot;:885.6}"/>
</p:tagLst>
</file>

<file path=ppt/tags/tag29.xml><?xml version="1.0" encoding="utf-8"?>
<p:tagLst xmlns:p="http://schemas.openxmlformats.org/presentationml/2006/main">
  <p:tag name="KSO_WM_DIAGRAM_VIRTUALLY_FRAME" val="{&quot;height&quot;:354.96,&quot;left&quot;:36,&quot;top&quot;:131.04000000000002,&quot;width&quot;:885.6}"/>
</p:tagLst>
</file>

<file path=ppt/tags/tag30.xml><?xml version="1.0" encoding="utf-8"?>
<p:tagLst xmlns:p="http://schemas.openxmlformats.org/presentationml/2006/main">
  <p:tag name="KSO_WM_DIAGRAM_VIRTUALLY_FRAME" val="{&quot;height&quot;:354.96,&quot;left&quot;:36,&quot;top&quot;:131.04000000000002,&quot;width&quot;:885.6}"/>
</p:tagLst>
</file>

<file path=ppt/tags/tag31.xml><?xml version="1.0" encoding="utf-8"?>
<p:tagLst xmlns:p="http://schemas.openxmlformats.org/presentationml/2006/main">
  <p:tag name="KSO_WM_DIAGRAM_VIRTUALLY_FRAME" val="{&quot;height&quot;:354.96,&quot;left&quot;:36,&quot;top&quot;:131.04000000000002,&quot;width&quot;:885.6}"/>
</p:tagLst>
</file>

<file path=ppt/tags/tag32.xml><?xml version="1.0" encoding="utf-8"?>
<p:tagLst xmlns:p="http://schemas.openxmlformats.org/presentationml/2006/main">
  <p:tag name="KSO_WM_DIAGRAM_VIRTUALLY_FRAME" val="{&quot;height&quot;:354.96,&quot;left&quot;:36,&quot;top&quot;:131.04000000000002,&quot;width&quot;:885.6}"/>
</p:tagLst>
</file>

<file path=ppt/tags/tag33.xml><?xml version="1.0" encoding="utf-8"?>
<p:tagLst xmlns:p="http://schemas.openxmlformats.org/presentationml/2006/main">
  <p:tag name="KSO_WM_DIAGRAM_VIRTUALLY_FRAME" val="{&quot;height&quot;:354.96,&quot;left&quot;:36,&quot;top&quot;:131.04000000000002,&quot;width&quot;:885.6}"/>
</p:tagLst>
</file>

<file path=ppt/tags/tag34.xml><?xml version="1.0" encoding="utf-8"?>
<p:tagLst xmlns:p="http://schemas.openxmlformats.org/presentationml/2006/main">
  <p:tag name="KSO_WM_DIAGRAM_VIRTUALLY_FRAME" val="{&quot;height&quot;:122.4,&quot;left&quot;:36,&quot;top&quot;:144,&quot;width&quot;:885.6}"/>
</p:tagLst>
</file>

<file path=ppt/tags/tag35.xml><?xml version="1.0" encoding="utf-8"?>
<p:tagLst xmlns:p="http://schemas.openxmlformats.org/presentationml/2006/main">
  <p:tag name="KSO_WM_DIAGRAM_VIRTUALLY_FRAME" val="{&quot;height&quot;:122.4,&quot;left&quot;:36,&quot;top&quot;:144,&quot;width&quot;:885.6}"/>
</p:tagLst>
</file>

<file path=ppt/tags/tag36.xml><?xml version="1.0" encoding="utf-8"?>
<p:tagLst xmlns:p="http://schemas.openxmlformats.org/presentationml/2006/main">
  <p:tag name="KSO_WM_DIAGRAM_VIRTUALLY_FRAME" val="{&quot;height&quot;:122.4,&quot;left&quot;:36,&quot;top&quot;:144,&quot;width&quot;:885.6}"/>
</p:tagLst>
</file>

<file path=ppt/tags/tag37.xml><?xml version="1.0" encoding="utf-8"?>
<p:tagLst xmlns:p="http://schemas.openxmlformats.org/presentationml/2006/main">
  <p:tag name="KSO_WM_DIAGRAM_VIRTUALLY_FRAME" val="{&quot;height&quot;:122.4,&quot;left&quot;:36,&quot;top&quot;:144,&quot;width&quot;:885.6}"/>
</p:tagLst>
</file>

<file path=ppt/tags/tag38.xml><?xml version="1.0" encoding="utf-8"?>
<p:tagLst xmlns:p="http://schemas.openxmlformats.org/presentationml/2006/main">
  <p:tag name="KSO_WM_DIAGRAM_VIRTUALLY_FRAME" val="{&quot;height&quot;:122.4,&quot;left&quot;:36,&quot;top&quot;:144,&quot;width&quot;:885.6}"/>
</p:tagLst>
</file>

<file path=ppt/tags/tag39.xml><?xml version="1.0" encoding="utf-8"?>
<p:tagLst xmlns:p="http://schemas.openxmlformats.org/presentationml/2006/main">
  <p:tag name="KSO_WM_DIAGRAM_VIRTUALLY_FRAME" val="{&quot;height&quot;:122.4,&quot;left&quot;:36,&quot;top&quot;:144,&quot;width&quot;:885.6}"/>
</p:tagLst>
</file>

<file path=ppt/tags/tag40.xml><?xml version="1.0" encoding="utf-8"?>
<p:tagLst xmlns:p="http://schemas.openxmlformats.org/presentationml/2006/main">
  <p:tag name="KSO_WM_DIAGRAM_VIRTUALLY_FRAME" val="{&quot;height&quot;:122.4,&quot;left&quot;:36,&quot;top&quot;:144,&quot;width&quot;:885.6}"/>
</p:tagLst>
</file>

<file path=ppt/tags/tag41.xml><?xml version="1.0" encoding="utf-8"?>
<p:tagLst xmlns:p="http://schemas.openxmlformats.org/presentationml/2006/main">
  <p:tag name="KSO_WM_DIAGRAM_VIRTUALLY_FRAME" val="{&quot;height&quot;:122.4,&quot;left&quot;:36,&quot;top&quot;:144,&quot;width&quot;:885.6}"/>
</p:tagLst>
</file>

<file path=ppt/tags/tag42.xml><?xml version="1.0" encoding="utf-8"?>
<p:tagLst xmlns:p="http://schemas.openxmlformats.org/presentationml/2006/main">
  <p:tag name="KSO_WM_DIAGRAM_VIRTUALLY_FRAME" val="{&quot;height&quot;:122.4,&quot;left&quot;:36,&quot;top&quot;:144,&quot;width&quot;:885.6}"/>
</p:tagLst>
</file>

<file path=ppt/tags/tag43.xml><?xml version="1.0" encoding="utf-8"?>
<p:tagLst xmlns:p="http://schemas.openxmlformats.org/presentationml/2006/main">
  <p:tag name="KSO_WM_DIAGRAM_VIRTUALLY_FRAME" val="{&quot;height&quot;:122.4,&quot;left&quot;:36,&quot;top&quot;:144,&quot;width&quot;:885.6}"/>
</p:tagLst>
</file>

<file path=ppt/tags/tag44.xml><?xml version="1.0" encoding="utf-8"?>
<p:tagLst xmlns:p="http://schemas.openxmlformats.org/presentationml/2006/main">
  <p:tag name="KSO_WM_DIAGRAM_VIRTUALLY_FRAME" val="{&quot;height&quot;:122.4,&quot;left&quot;:36,&quot;top&quot;:144,&quot;width&quot;:885.6}"/>
</p:tagLst>
</file>

<file path=ppt/tags/tag45.xml><?xml version="1.0" encoding="utf-8"?>
<p:tagLst xmlns:p="http://schemas.openxmlformats.org/presentationml/2006/main">
  <p:tag name="KSO_WM_DIAGRAM_VIRTUALLY_FRAME" val="{&quot;height&quot;:122.4,&quot;left&quot;:36,&quot;top&quot;:144,&quot;width&quot;:885.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14763</Words>
  <Application>WPS Presentation</Application>
  <PresentationFormat>On-screen Show (16:9)</PresentationFormat>
  <Paragraphs>584</Paragraphs>
  <Slides>24</Slides>
  <Notes>22</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24</vt:i4>
      </vt:variant>
    </vt:vector>
  </HeadingPairs>
  <TitlesOfParts>
    <vt:vector size="39" baseType="lpstr">
      <vt:lpstr>Arial</vt:lpstr>
      <vt:lpstr>SimSun</vt:lpstr>
      <vt:lpstr>Wingdings</vt:lpstr>
      <vt:lpstr>Arial</vt:lpstr>
      <vt:lpstr>Arial</vt:lpstr>
      <vt:lpstr>Calibri</vt:lpstr>
      <vt:lpstr>Microsoft YaHei</vt:lpstr>
      <vt:lpstr>Arial Unicode MS</vt:lpstr>
      <vt:lpstr>Consolas</vt:lpstr>
      <vt:lpstr>Consolas</vt:lpstr>
      <vt:lpstr>Consolas</vt:lpstr>
      <vt:lpstr>Helvetica</vt:lpstr>
      <vt:lpstr>Helvetica</vt:lpstr>
      <vt:lpstr>Helvetica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rajar</cp:lastModifiedBy>
  <cp:revision>35</cp:revision>
  <dcterms:created xsi:type="dcterms:W3CDTF">2026-08-22T09:31:00Z</dcterms:created>
  <dcterms:modified xsi:type="dcterms:W3CDTF">2026-08-22T17:23:47Z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633DB05BB9A24F8DAB82010ADC5C5103_13</vt:lpwstr>
  </property>
  <property fmtid="{D5CDD505-2E9C-101B-9397-08002B2CF9AE}" pid="3" name="KSOProductBuildVer">
    <vt:lpwstr>2057-12.2.0.23206</vt:lpwstr>
  </property>
</Properties>
</file>